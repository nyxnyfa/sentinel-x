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Lst>
  <p:notesMasterIdLst>
    <p:notesMasterId r:id="rId12"/>
  </p:notesMasterIdLst>
  <p:sldSz cx="12191695" cy="6858000"/>
  <p:notesSz cx="6858000" cy="12191695"/>
  <p:embeddedFontLst>
    <p:embeddedFont>
      <p:font typeface="Barlow"/>
      <p:regular r:id="rId201314"/>
    </p:embeddedFont>
    <p:embeddedFont>
      <p:font typeface="Barlow Medium"/>
      <p:regular r:id="rId201315"/>
    </p:embeddedFont>
    <p:embeddedFont>
      <p:font typeface="Barlow Bold"/>
      <p:regular r:id="rId201316"/>
    </p:embeddedFont>
    <p:embeddedFont>
      <p:font typeface="Fragment Mono"/>
      <p:regular r:id="rId201317"/>
    </p:embeddedFont>
    <p:embeddedFont>
      <p:font typeface="Saira Semi Condensed ExtraBold"/>
      <p:regular r:id="rId2013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201314" Type="http://schemas.openxmlformats.org/officeDocument/2006/relationships/font" Target="fonts/201314.fntdata"/><Relationship Id="rId201315" Type="http://schemas.openxmlformats.org/officeDocument/2006/relationships/font" Target="fonts/201315.fntdata"/><Relationship Id="rId201316" Type="http://schemas.openxmlformats.org/officeDocument/2006/relationships/font" Target="fonts/201316.fntdata"/><Relationship Id="rId201317" Type="http://schemas.openxmlformats.org/officeDocument/2006/relationships/font" Target="fonts/201317.fntdata"/><Relationship Id="rId201318" Type="http://schemas.openxmlformats.org/officeDocument/2006/relationships/font" Target="fonts/20131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1 (HOOK FINANSIAL):</a:t>
            </a:r>
          </a:p>
          <a:p>
            <a:r>
              <a:t>Selamat pagi/siang Dewan Juri dan Rekan Mitra Industri. Ketika listrik padam 1 jam di wilayah industri, kerugian penjualan listrik langsung yang dialami PLN mencapai Rp 1,5 hingga 3 Miliar. Dan bagi industri di sekitarnya, dampaknya mencapai belasan hingga Rp 20 Miliar akibat mesin mati mendadak. Pertanyaannya: Kenapa pemadaman trafo ini butuh waktu berjam-jam untuk ditangani?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2 (SKALA 500K TRAFO &amp; BLINDSPOT NON-DAYA):</a:t>
            </a:r>
          </a:p>
          <a:p>
            <a:r>
              <a:t>PLN memang sudah memiliki sensor arus dan tegangan kelistrikan. Namun faktanya, 5.000 sampai 10.000 trafo tetap meledak dan rusak setiap tahunnya! Mengapa? Karena penyebab awal trafo terbakar bukanlah lonjakan daya mendadak, melainkan degradasi fisik: isolasi minyak membusuk mengeluarkan gas mudah terbakar, getaran mekanis noise trafo yang kendor, dan pintu gardu yang dibobol. Ini adalah blindspot yang belum terawasi secara real-time di 500.000+ gardu distribusi.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3 (TANPA GIS, PENANGANAN LAMBAT):</a:t>
            </a:r>
          </a:p>
          <a:p>
            <a:r>
              <a:t>Ketika terjadi pemadaman di satu penyulang, sistem yang ada saat ini tidak memberikan titik koordinat trafo mana yang rusak. Akibatnya: regu pemeliharaan PLN harus menyisir tiang jalan satu per satu berdasarkan laporan telepon warga! Pencarian manual ini memakan waktu 4 hingga 8 jam. Semakin lama waktu pencarian, kerugian penjualan listrik semakin membengkak, dan trafo yang seharusnya bisa diselamatkan justru terlanjur hangus terbakar.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4 (3 SENSOR FISIK SENTINEL-X):</a:t>
            </a:r>
          </a:p>
          <a:p>
            <a:r>
              <a:t>Inilah solusi yang kami bawa: SENTINEL-X melengkapi sistem PLN dengan 3 sensor spesifik yang selama ini menjadi titik buta: 1. Sensor Gas: Mendeteksi uap gas degradasi isolasi minyak sebelum percikan api menyala. 2. Sensor Getaran: Mendeteksi noise getaran mekanis trafo akibat baut kendor atau keausan bearing pendingin. 3. Sensor Perimeter Pintu: Mendeteksi pembobolan pintu gardu seketika dengan hardware interrupt. Ketiga data ini kemudian dilebur oleh model cerdas lokal untuk menentukan akar masalah kerusakan secara otomatis.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5 (GIS &amp; REKOMENDASI TINDAKAN):</a:t>
            </a:r>
          </a:p>
          <a:p>
            <a:r>
              <a:t>Inilah keunggulan utama SENTINEL-X yang menjawab kebutuhan operasional PLN: 1. Berbasis GIS: Operator tidak perlu lagi menebak tiang mana yang bermasalah. Peta GIS langsung memunculkan pin point merah pada trafo spesifik lengkap dengan koordinat presisi. 2. Sistem Cerdas Rekomendasi Tindakan: Sistem kami tidak hanya menampilkan grafik mentah, melainkan langsung memberikan rekomendasi tindakan jelas kepada operator: - 'Cek trafo ada indikasi kebakaran karena gas terlarut naik drastis' ➔ Kirim tim pemeliharaan minyak sebelum meledak! - 'Periksa baut/bearing trafo karena noise getaran abnormal' ➔ Jadwalkan pengencangan preventif! - 'Pintu gardu dibobol' ➔ Kirim pengamanan ke lokasi! Dengan rekomendasi yang jelas, keputusan bisa dieksekusi dalam hitungan menit.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6 (DASHBOARD SCADA GIS):</a:t>
            </a:r>
          </a:p>
          <a:p>
            <a:r>
              <a:t>Di slide ini, kami menampilkan antarmuka SCADA Web GIS SENTINEL-X secara langsung. Di sisi kiri terlihat peta geospasial gardu yang menunjukkan status kesehatan trafo secara real-time. Ketika terdeteksi gas atau getaran tinggi, pin point gardu akan berubah menjadi merah dan memunculkan pop-up instruksi tindakan langsung: apa masalahnya, mengapa itu terjadi, dan apa tindakan yang wajib segera dilakukan petugas lapangan.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SLIDE 7 (ROADMAP, TIM &amp; THE ASK):</a:t>
            </a:r>
          </a:p>
          <a:p>
            <a:r>
              <a:t>Roadmap 12 bulan kami difokuskan untuk integrasi lapangan: Bulan 3-4 kalibrasi model cerdas pada beban getaran dinamis, Bulan 5-10 uji coba sandbox pada 10 gardu distribusi PLN, dan Bulan 11-12 integrasi API GIS ke sistem dispatcher PLN. Dukungan yang kami butuhkan adalah akses sandbox uji lapangan dan dataset historis trafo bermasalah. Terima kasih atas perhatian Dewan Juri. Silakan scan QR code di layar untuk mengakses materi kami. Kami siap berdiskusi di sesi tanya jawab!</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hyperlink" Target="https://gamma.app/?utm_source=made-with-gamma" TargetMode="External"/><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2-1.png"/><Relationship Id="rId3" Type="http://schemas.openxmlformats.org/officeDocument/2006/relationships/hyperlink" Target="https://gamma.app/?utm_source=made-with-gamma" TargetMode="Externa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2-1.png"/><Relationship Id="rId3" Type="http://schemas.openxmlformats.org/officeDocument/2006/relationships/hyperlink" Target="https://gamma.app/?utm_source=made-with-gamma" TargetMode="External"/><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A112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0A11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a:hlinkClick r:id="rId3" tooltip=""/>
          </p:cNvPr>
          <p:cNvPicPr>
            <a:picLocks noChangeAspect="1"/>
          </p:cNvPicPr>
          <p:nvPr/>
        </p:nvPicPr>
        <p:blipFill>
          <a:blip r:embed="rId2"/>
          <a:stretch>
            <a:fillRect/>
          </a:stretch>
        </p:blipFill>
        <p:spPr>
          <a:xfrm>
            <a:off x="11076875" y="65589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bg>
      <p:bgPr>
        <a:solidFill>
          <a:srgbClr val="0A11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a:hlinkClick r:id="rId3" tooltip=""/>
          </p:cNvPr>
          <p:cNvPicPr>
            <a:picLocks noChangeAspect="1"/>
          </p:cNvPicPr>
          <p:nvPr/>
        </p:nvPicPr>
        <p:blipFill>
          <a:blip r:embed="rId2"/>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ounded Rectangle 1"/>
          <p:cNvSpPr/>
          <p:nvPr/>
        </p:nvSpPr>
        <p:spPr>
          <a:xfrm>
            <a:off x="594360" y="411480"/>
            <a:ext cx="3840480" cy="34747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100" b="1">
                <a:solidFill>
                  <a:srgbClr val="38BDF8"/>
                </a:solidFill>
                <a:latin typeface="Fragment Mono"/>
              </a:rPr>
              <a:t>●  TRACK 04  •  AIOT SMART-X 2026</a:t>
            </a:r>
          </a:p>
        </p:txBody>
      </p:sp>
      <p:sp>
        <p:nvSpPr>
          <p:cNvPr id="3" name="TextBox 2"/>
          <p:cNvSpPr txBox="1"/>
          <p:nvPr/>
        </p:nvSpPr>
        <p:spPr>
          <a:xfrm>
            <a:off x="594360" y="868680"/>
            <a:ext cx="6583680" cy="868680"/>
          </a:xfrm>
          <a:prstGeom prst="rect">
            <a:avLst/>
          </a:prstGeom>
          <a:noFill/>
        </p:spPr>
        <p:txBody>
          <a:bodyPr wrap="square" lIns="9144" rIns="9144" tIns="9144" bIns="9144">
            <a:spAutoFit/>
          </a:bodyPr>
          <a:lstStyle/>
          <a:p>
            <a:pPr algn="l"/>
            <a:r>
              <a:rPr sz="6000" b="1">
                <a:solidFill>
                  <a:srgbClr val="FFFFFF"/>
                </a:solidFill>
                <a:latin typeface="Saira Semi Condensed ExtraBold"/>
              </a:rPr>
              <a:t>SENTINEL-X</a:t>
            </a:r>
          </a:p>
        </p:txBody>
      </p:sp>
      <p:sp>
        <p:nvSpPr>
          <p:cNvPr id="4" name="TextBox 3"/>
          <p:cNvSpPr txBox="1"/>
          <p:nvPr/>
        </p:nvSpPr>
        <p:spPr>
          <a:xfrm>
            <a:off x="594360" y="1783080"/>
            <a:ext cx="6583680" cy="411480"/>
          </a:xfrm>
          <a:prstGeom prst="rect">
            <a:avLst/>
          </a:prstGeom>
          <a:noFill/>
        </p:spPr>
        <p:txBody>
          <a:bodyPr wrap="square" lIns="9144" rIns="9144" tIns="9144" bIns="9144">
            <a:spAutoFit/>
          </a:bodyPr>
          <a:lstStyle/>
          <a:p>
            <a:pPr algn="l"/>
            <a:r>
              <a:rPr sz="2400" b="1">
                <a:solidFill>
                  <a:srgbClr val="F8ED43"/>
                </a:solidFill>
                <a:latin typeface="Saira Semi Condensed ExtraBold"/>
              </a:rPr>
              <a:t>Berapa Biaya Padam Listrik 1 Jam?</a:t>
            </a:r>
          </a:p>
        </p:txBody>
      </p:sp>
      <p:sp>
        <p:nvSpPr>
          <p:cNvPr id="5" name="Rounded Rectangle 4"/>
          <p:cNvSpPr/>
          <p:nvPr/>
        </p:nvSpPr>
        <p:spPr>
          <a:xfrm>
            <a:off x="594360" y="2423160"/>
            <a:ext cx="6583680" cy="1691640"/>
          </a:xfrm>
          <a:prstGeom prst="roundRect">
            <a:avLst>
              <a:gd name="adj" fmla="val 6000"/>
            </a:avLst>
          </a:prstGeom>
          <a:solidFill>
            <a:srgbClr val="14233F"/>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578608"/>
            <a:ext cx="320040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EF4444"/>
                </a:solidFill>
                <a:latin typeface="Fragment Mono"/>
              </a:rPr>
              <a:t>●  KERUGIAN PENJUALAN PLN LANGSUNG</a:t>
            </a:r>
          </a:p>
        </p:txBody>
      </p:sp>
      <p:sp>
        <p:nvSpPr>
          <p:cNvPr id="7" name="TextBox 6"/>
          <p:cNvSpPr txBox="1"/>
          <p:nvPr/>
        </p:nvSpPr>
        <p:spPr>
          <a:xfrm>
            <a:off x="777240" y="2907792"/>
            <a:ext cx="6217920" cy="777240"/>
          </a:xfrm>
          <a:prstGeom prst="rect">
            <a:avLst/>
          </a:prstGeom>
          <a:noFill/>
        </p:spPr>
        <p:txBody>
          <a:bodyPr wrap="square" lIns="9144" rIns="9144" tIns="9144" bIns="9144">
            <a:spAutoFit/>
          </a:bodyPr>
          <a:lstStyle/>
          <a:p>
            <a:pPr algn="l"/>
            <a:r>
              <a:rPr sz="4200" b="1">
                <a:solidFill>
                  <a:srgbClr val="FFFFFF"/>
                </a:solidFill>
                <a:latin typeface="Saira Semi Condensed ExtraBold"/>
              </a:rPr>
              <a:t>Rp 1,5 – 3,0 MILIAR</a:t>
            </a:r>
          </a:p>
        </p:txBody>
      </p:sp>
      <p:sp>
        <p:nvSpPr>
          <p:cNvPr id="8" name="TextBox 7"/>
          <p:cNvSpPr txBox="1"/>
          <p:nvPr/>
        </p:nvSpPr>
        <p:spPr>
          <a:xfrm>
            <a:off x="777240" y="3703320"/>
            <a:ext cx="6217920" cy="320040"/>
          </a:xfrm>
          <a:prstGeom prst="rect">
            <a:avLst/>
          </a:prstGeom>
          <a:noFill/>
        </p:spPr>
        <p:txBody>
          <a:bodyPr wrap="square" lIns="9144" rIns="9144" tIns="9144" bIns="9144">
            <a:spAutoFit/>
          </a:bodyPr>
          <a:lstStyle/>
          <a:p>
            <a:pPr algn="l"/>
            <a:r>
              <a:rPr sz="1200" b="0">
                <a:solidFill>
                  <a:srgbClr val="94A3B8"/>
                </a:solidFill>
                <a:latin typeface="Barlow"/>
              </a:rPr>
              <a:t>Kehilangan Penjualan Listrik / Jam di Subsistem Industri (ENS 15–25 GWh)</a:t>
            </a:r>
          </a:p>
        </p:txBody>
      </p:sp>
      <p:sp>
        <p:nvSpPr>
          <p:cNvPr id="9" name="Rounded Rectangle 8"/>
          <p:cNvSpPr/>
          <p:nvPr/>
        </p:nvSpPr>
        <p:spPr>
          <a:xfrm>
            <a:off x="594360" y="4297680"/>
            <a:ext cx="6583680" cy="1508760"/>
          </a:xfrm>
          <a:prstGeom prst="roundRect">
            <a:avLst>
              <a:gd name="adj" fmla="val 6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4462272"/>
            <a:ext cx="320040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F8ED43"/>
                </a:solidFill>
                <a:latin typeface="Fragment Mono"/>
              </a:rPr>
              <a:t>●  ESTIMASI KERUGIAN EKONOMI &amp; INDUSTRI</a:t>
            </a:r>
          </a:p>
        </p:txBody>
      </p:sp>
      <p:sp>
        <p:nvSpPr>
          <p:cNvPr id="11" name="TextBox 10"/>
          <p:cNvSpPr txBox="1"/>
          <p:nvPr/>
        </p:nvSpPr>
        <p:spPr>
          <a:xfrm>
            <a:off x="777240" y="4791456"/>
            <a:ext cx="6217920" cy="685800"/>
          </a:xfrm>
          <a:prstGeom prst="rect">
            <a:avLst/>
          </a:prstGeom>
          <a:noFill/>
        </p:spPr>
        <p:txBody>
          <a:bodyPr wrap="square" lIns="9144" rIns="9144" tIns="9144" bIns="9144">
            <a:spAutoFit/>
          </a:bodyPr>
          <a:lstStyle/>
          <a:p>
            <a:pPr algn="l"/>
            <a:r>
              <a:rPr sz="3600" b="1">
                <a:solidFill>
                  <a:srgbClr val="F8ED43"/>
                </a:solidFill>
                <a:latin typeface="Saira Semi Condensed ExtraBold"/>
              </a:rPr>
              <a:t>± Rp 15 – 20 MILIAR</a:t>
            </a:r>
          </a:p>
        </p:txBody>
      </p:sp>
      <p:sp>
        <p:nvSpPr>
          <p:cNvPr id="12" name="TextBox 11"/>
          <p:cNvSpPr txBox="1"/>
          <p:nvPr/>
        </p:nvSpPr>
        <p:spPr>
          <a:xfrm>
            <a:off x="777240" y="5440680"/>
            <a:ext cx="6217920" cy="274320"/>
          </a:xfrm>
          <a:prstGeom prst="rect">
            <a:avLst/>
          </a:prstGeom>
          <a:noFill/>
        </p:spPr>
        <p:txBody>
          <a:bodyPr wrap="square" lIns="9144" rIns="9144" tIns="9144" bIns="9144">
            <a:spAutoFit/>
          </a:bodyPr>
          <a:lstStyle/>
          <a:p>
            <a:pPr algn="l"/>
            <a:r>
              <a:rPr sz="1200" b="0">
                <a:solidFill>
                  <a:srgbClr val="94A3B8"/>
                </a:solidFill>
                <a:latin typeface="Barlow"/>
              </a:rPr>
              <a:t>Lumpuhnya Pabrik, Rantai Pasok Dingin, dan Denda Downtime Produksi</a:t>
            </a:r>
          </a:p>
        </p:txBody>
      </p:sp>
      <p:sp>
        <p:nvSpPr>
          <p:cNvPr id="13" name="TextBox 12"/>
          <p:cNvSpPr txBox="1"/>
          <p:nvPr/>
        </p:nvSpPr>
        <p:spPr>
          <a:xfrm>
            <a:off x="594360" y="6035040"/>
            <a:ext cx="6583680" cy="365760"/>
          </a:xfrm>
          <a:prstGeom prst="rect">
            <a:avLst/>
          </a:prstGeom>
          <a:noFill/>
        </p:spPr>
        <p:txBody>
          <a:bodyPr wrap="square" lIns="9144" rIns="9144" tIns="9144" bIns="9144">
            <a:spAutoFit/>
          </a:bodyPr>
          <a:lstStyle/>
          <a:p>
            <a:pPr algn="l"/>
            <a:r>
              <a:rPr sz="1100" b="1">
                <a:solidFill>
                  <a:srgbClr val="E6F4FF"/>
                </a:solidFill>
                <a:latin typeface="Barlow"/>
              </a:rPr>
              <a:t>Tim Universitas Semarang: Benedicto (L3) • Daniyal (L2) • Bagus (L1) • Dr. Aria (Advisor)</a:t>
            </a:r>
          </a:p>
        </p:txBody>
      </p:sp>
      <p:pic>
        <p:nvPicPr>
          <p:cNvPr id="14" name="Picture 13" descr="image.png"/>
          <p:cNvPicPr>
            <a:picLocks noChangeAspect="1"/>
          </p:cNvPicPr>
          <p:nvPr/>
        </p:nvPicPr>
        <p:blipFill>
          <a:blip r:embed="rId1"/>
          <a:stretch>
            <a:fillRect/>
          </a:stretch>
        </p:blipFill>
        <p:spPr>
          <a:xfrm>
            <a:off x="7452360" y="777240"/>
            <a:ext cx="4343400" cy="5532120"/>
          </a:xfrm>
          <a:prstGeom prst="rect">
            <a:avLst/>
          </a:prstGeom>
        </p:spPr>
      </p:pic>
    </p:spTree>
  </p:cSld>
  <p:clrMapOvr>
    <a:masterClrMapping/>
  </p:clrMapOvr>
  <p:transition spd="med" advClick="1">
    <p:fade thruBlk="0"/>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SKALA INFRASTRUKTUR NASIONAL</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02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500.000+ Trafo di Indonesia Beroperasi Tanpa Deteksi Dini Mekanis &amp; Gas</a:t>
            </a:r>
          </a:p>
        </p:txBody>
      </p:sp>
      <p:sp>
        <p:nvSpPr>
          <p:cNvPr id="5" name="Rounded Rectangle 4"/>
          <p:cNvSpPr/>
          <p:nvPr/>
        </p:nvSpPr>
        <p:spPr>
          <a:xfrm>
            <a:off x="548640" y="1417320"/>
            <a:ext cx="5303520" cy="4983480"/>
          </a:xfrm>
          <a:prstGeom prst="roundRect">
            <a:avLst>
              <a:gd name="adj" fmla="val 6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691640"/>
            <a:ext cx="329184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50" b="1">
                <a:solidFill>
                  <a:srgbClr val="38BDF8"/>
                </a:solidFill>
                <a:latin typeface="Fragment Mono"/>
              </a:rPr>
              <a:t>●  TOTAL ASET TERPASANG NASIONAL</a:t>
            </a:r>
          </a:p>
        </p:txBody>
      </p:sp>
      <p:sp>
        <p:nvSpPr>
          <p:cNvPr id="7" name="TextBox 6"/>
          <p:cNvSpPr txBox="1"/>
          <p:nvPr/>
        </p:nvSpPr>
        <p:spPr>
          <a:xfrm>
            <a:off x="822960" y="2103120"/>
            <a:ext cx="4754880" cy="1143000"/>
          </a:xfrm>
          <a:prstGeom prst="rect">
            <a:avLst/>
          </a:prstGeom>
          <a:noFill/>
        </p:spPr>
        <p:txBody>
          <a:bodyPr wrap="square" lIns="9144" rIns="9144" tIns="9144" bIns="9144">
            <a:spAutoFit/>
          </a:bodyPr>
          <a:lstStyle/>
          <a:p>
            <a:pPr algn="l"/>
            <a:r>
              <a:rPr sz="7200" b="1">
                <a:solidFill>
                  <a:srgbClr val="FFFFFF"/>
                </a:solidFill>
                <a:latin typeface="Saira Semi Condensed ExtraBold"/>
              </a:rPr>
              <a:t>500.000+</a:t>
            </a:r>
          </a:p>
        </p:txBody>
      </p:sp>
      <p:sp>
        <p:nvSpPr>
          <p:cNvPr id="8" name="TextBox 7"/>
          <p:cNvSpPr txBox="1"/>
          <p:nvPr/>
        </p:nvSpPr>
        <p:spPr>
          <a:xfrm>
            <a:off x="822960" y="3246120"/>
            <a:ext cx="4754880" cy="411480"/>
          </a:xfrm>
          <a:prstGeom prst="rect">
            <a:avLst/>
          </a:prstGeom>
          <a:noFill/>
        </p:spPr>
        <p:txBody>
          <a:bodyPr wrap="square" lIns="9144" rIns="9144" tIns="9144" bIns="9144">
            <a:spAutoFit/>
          </a:bodyPr>
          <a:lstStyle/>
          <a:p>
            <a:pPr algn="l"/>
            <a:r>
              <a:rPr sz="2000" b="1">
                <a:solidFill>
                  <a:srgbClr val="38BDF8"/>
                </a:solidFill>
                <a:latin typeface="Saira Semi Condensed ExtraBold"/>
              </a:rPr>
              <a:t>Unit Trafo Gardu Distribusi PLN</a:t>
            </a:r>
          </a:p>
        </p:txBody>
      </p:sp>
      <p:sp>
        <p:nvSpPr>
          <p:cNvPr id="9" name="TextBox 8"/>
          <p:cNvSpPr txBox="1"/>
          <p:nvPr/>
        </p:nvSpPr>
        <p:spPr>
          <a:xfrm>
            <a:off x="822960" y="3749039"/>
            <a:ext cx="4754880" cy="640080"/>
          </a:xfrm>
          <a:prstGeom prst="rect">
            <a:avLst/>
          </a:prstGeom>
          <a:noFill/>
        </p:spPr>
        <p:txBody>
          <a:bodyPr wrap="square" lIns="9144" rIns="9144" tIns="9144" bIns="9144">
            <a:spAutoFit/>
          </a:bodyPr>
          <a:lstStyle/>
          <a:p>
            <a:pPr algn="l"/>
            <a:r>
              <a:rPr sz="1300" b="0">
                <a:solidFill>
                  <a:srgbClr val="94A3B8"/>
                </a:solidFill>
                <a:latin typeface="Barlow"/>
              </a:rPr>
              <a:t>PLN sudah memiliki sensor daya listrik (tegangan/arus), namun trafo tetap meledak karena anomali mekanis dan degradasi isolasi tidak terpantau.</a:t>
            </a:r>
          </a:p>
        </p:txBody>
      </p:sp>
      <p:sp>
        <p:nvSpPr>
          <p:cNvPr id="10" name="Rounded Rectangle 9"/>
          <p:cNvSpPr/>
          <p:nvPr/>
        </p:nvSpPr>
        <p:spPr>
          <a:xfrm>
            <a:off x="822960" y="4709160"/>
            <a:ext cx="4754880" cy="38404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F8ED43"/>
                </a:solidFill>
                <a:latin typeface="Fragment Mono"/>
              </a:rPr>
              <a:t>●  PLN SUDAH PUNYA SENSOR DAYA, TAPI 'BUTA' KUALITAS FISIK TRAFO</a:t>
            </a:r>
          </a:p>
        </p:txBody>
      </p:sp>
      <p:sp>
        <p:nvSpPr>
          <p:cNvPr id="11" name="Rounded Rectangle 10"/>
          <p:cNvSpPr/>
          <p:nvPr/>
        </p:nvSpPr>
        <p:spPr>
          <a:xfrm>
            <a:off x="822960" y="5257800"/>
            <a:ext cx="4754880" cy="38404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94A3B8"/>
                </a:solidFill>
                <a:latin typeface="Fragment Mono"/>
              </a:rPr>
              <a:t>●  INSPEKSI MANUAL PERIODIK TIDAK DAPAT MENCEGAH LEDAKAN TIBA-TIBA</a:t>
            </a:r>
          </a:p>
        </p:txBody>
      </p:sp>
      <p:sp>
        <p:nvSpPr>
          <p:cNvPr id="12" name="Rounded Rectangle 11"/>
          <p:cNvSpPr/>
          <p:nvPr/>
        </p:nvSpPr>
        <p:spPr>
          <a:xfrm>
            <a:off x="6126480" y="1417320"/>
            <a:ext cx="5486400" cy="4983480"/>
          </a:xfrm>
          <a:prstGeom prst="roundRect">
            <a:avLst>
              <a:gd name="adj" fmla="val 6000"/>
            </a:avLst>
          </a:prstGeom>
          <a:solidFill>
            <a:srgbClr val="14233F"/>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0" y="1691640"/>
            <a:ext cx="329184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50" b="1">
                <a:solidFill>
                  <a:srgbClr val="EF4444"/>
                </a:solidFill>
                <a:latin typeface="Fragment Mono"/>
              </a:rPr>
              <a:t>●  KEGAGALAN ASET TAHUNAN</a:t>
            </a:r>
          </a:p>
        </p:txBody>
      </p:sp>
      <p:sp>
        <p:nvSpPr>
          <p:cNvPr id="14" name="TextBox 13"/>
          <p:cNvSpPr txBox="1"/>
          <p:nvPr/>
        </p:nvSpPr>
        <p:spPr>
          <a:xfrm>
            <a:off x="6400800" y="2103120"/>
            <a:ext cx="4937760" cy="1143000"/>
          </a:xfrm>
          <a:prstGeom prst="rect">
            <a:avLst/>
          </a:prstGeom>
          <a:noFill/>
        </p:spPr>
        <p:txBody>
          <a:bodyPr wrap="square" lIns="9144" rIns="9144" tIns="9144" bIns="9144">
            <a:spAutoFit/>
          </a:bodyPr>
          <a:lstStyle/>
          <a:p>
            <a:pPr algn="l"/>
            <a:r>
              <a:rPr sz="7200" b="1">
                <a:solidFill>
                  <a:srgbClr val="EF4444"/>
                </a:solidFill>
                <a:latin typeface="Saira Semi Condensed ExtraBold"/>
              </a:rPr>
              <a:t>1% – 2%</a:t>
            </a:r>
          </a:p>
        </p:txBody>
      </p:sp>
      <p:sp>
        <p:nvSpPr>
          <p:cNvPr id="15" name="TextBox 14"/>
          <p:cNvSpPr txBox="1"/>
          <p:nvPr/>
        </p:nvSpPr>
        <p:spPr>
          <a:xfrm>
            <a:off x="6400800" y="3246120"/>
            <a:ext cx="4937760" cy="411480"/>
          </a:xfrm>
          <a:prstGeom prst="rect">
            <a:avLst/>
          </a:prstGeom>
          <a:noFill/>
        </p:spPr>
        <p:txBody>
          <a:bodyPr wrap="square" lIns="9144" rIns="9144" tIns="9144" bIns="9144">
            <a:spAutoFit/>
          </a:bodyPr>
          <a:lstStyle/>
          <a:p>
            <a:pPr algn="l"/>
            <a:r>
              <a:rPr sz="2000" b="1">
                <a:solidFill>
                  <a:srgbClr val="F8ED43"/>
                </a:solidFill>
                <a:latin typeface="Saira Semi Condensed ExtraBold"/>
              </a:rPr>
              <a:t>5.000 – 10.000 Trafo Rusak / Meledak per Tahun</a:t>
            </a:r>
          </a:p>
        </p:txBody>
      </p:sp>
      <p:sp>
        <p:nvSpPr>
          <p:cNvPr id="16" name="Rounded Rectangle 15"/>
          <p:cNvSpPr/>
          <p:nvPr/>
        </p:nvSpPr>
        <p:spPr>
          <a:xfrm>
            <a:off x="6400800" y="3840480"/>
            <a:ext cx="4937760" cy="68580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3931920"/>
            <a:ext cx="4663440" cy="256032"/>
          </a:xfrm>
          <a:prstGeom prst="rect">
            <a:avLst/>
          </a:prstGeom>
          <a:noFill/>
        </p:spPr>
        <p:txBody>
          <a:bodyPr wrap="square" lIns="9144" rIns="9144" tIns="9144" bIns="9144">
            <a:spAutoFit/>
          </a:bodyPr>
          <a:lstStyle/>
          <a:p>
            <a:pPr algn="l"/>
            <a:r>
              <a:rPr sz="1200" b="1">
                <a:solidFill>
                  <a:srgbClr val="FFFFFF"/>
                </a:solidFill>
                <a:latin typeface="Fragment Mono"/>
              </a:rPr>
              <a:t>●  Akumulasi Gas Terlarut (DGA)</a:t>
            </a:r>
          </a:p>
        </p:txBody>
      </p:sp>
      <p:sp>
        <p:nvSpPr>
          <p:cNvPr id="18" name="TextBox 17"/>
          <p:cNvSpPr txBox="1"/>
          <p:nvPr/>
        </p:nvSpPr>
        <p:spPr>
          <a:xfrm>
            <a:off x="6537960" y="4187952"/>
            <a:ext cx="4663440" cy="274320"/>
          </a:xfrm>
          <a:prstGeom prst="rect">
            <a:avLst/>
          </a:prstGeom>
          <a:noFill/>
        </p:spPr>
        <p:txBody>
          <a:bodyPr wrap="square" lIns="9144" rIns="9144" tIns="9144" bIns="9144">
            <a:spAutoFit/>
          </a:bodyPr>
          <a:lstStyle/>
          <a:p>
            <a:pPr algn="l"/>
            <a:r>
              <a:rPr sz="1050" b="0">
                <a:solidFill>
                  <a:srgbClr val="94A3B8"/>
                </a:solidFill>
                <a:latin typeface="Barlow"/>
              </a:rPr>
              <a:t>Isolasi minyak terurai menghasilkan gas mudah terbakar berminggu-minggu sebelum meledak.</a:t>
            </a:r>
          </a:p>
        </p:txBody>
      </p:sp>
      <p:sp>
        <p:nvSpPr>
          <p:cNvPr id="19" name="Rounded Rectangle 18"/>
          <p:cNvSpPr/>
          <p:nvPr/>
        </p:nvSpPr>
        <p:spPr>
          <a:xfrm>
            <a:off x="6400800" y="4617720"/>
            <a:ext cx="4937760" cy="68580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4709159"/>
            <a:ext cx="4663440" cy="256032"/>
          </a:xfrm>
          <a:prstGeom prst="rect">
            <a:avLst/>
          </a:prstGeom>
          <a:noFill/>
        </p:spPr>
        <p:txBody>
          <a:bodyPr wrap="square" lIns="9144" rIns="9144" tIns="9144" bIns="9144">
            <a:spAutoFit/>
          </a:bodyPr>
          <a:lstStyle/>
          <a:p>
            <a:pPr algn="l"/>
            <a:r>
              <a:rPr sz="1200" b="1">
                <a:solidFill>
                  <a:srgbClr val="FFFFFF"/>
                </a:solidFill>
                <a:latin typeface="Fragment Mono"/>
              </a:rPr>
              <a:t>●  Getaran Noise &amp; Inti Trafo</a:t>
            </a:r>
          </a:p>
        </p:txBody>
      </p:sp>
      <p:sp>
        <p:nvSpPr>
          <p:cNvPr id="21" name="TextBox 20"/>
          <p:cNvSpPr txBox="1"/>
          <p:nvPr/>
        </p:nvSpPr>
        <p:spPr>
          <a:xfrm>
            <a:off x="6537960" y="4965192"/>
            <a:ext cx="4663440" cy="274320"/>
          </a:xfrm>
          <a:prstGeom prst="rect">
            <a:avLst/>
          </a:prstGeom>
          <a:noFill/>
        </p:spPr>
        <p:txBody>
          <a:bodyPr wrap="square" lIns="9144" rIns="9144" tIns="9144" bIns="9144">
            <a:spAutoFit/>
          </a:bodyPr>
          <a:lstStyle/>
          <a:p>
            <a:pPr algn="l"/>
            <a:r>
              <a:rPr sz="1050" b="0">
                <a:solidFill>
                  <a:srgbClr val="94A3B8"/>
                </a:solidFill>
                <a:latin typeface="Barlow"/>
              </a:rPr>
              <a:t>Baut kendor atau magnetostriksi inti menghasilkan frekuensi harmonik getaran abnormal.</a:t>
            </a:r>
          </a:p>
        </p:txBody>
      </p:sp>
      <p:sp>
        <p:nvSpPr>
          <p:cNvPr id="22" name="Rounded Rectangle 21"/>
          <p:cNvSpPr/>
          <p:nvPr/>
        </p:nvSpPr>
        <p:spPr>
          <a:xfrm>
            <a:off x="6400800" y="5394960"/>
            <a:ext cx="4937760" cy="68580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0" y="5486400"/>
            <a:ext cx="4663440" cy="256032"/>
          </a:xfrm>
          <a:prstGeom prst="rect">
            <a:avLst/>
          </a:prstGeom>
          <a:noFill/>
        </p:spPr>
        <p:txBody>
          <a:bodyPr wrap="square" lIns="9144" rIns="9144" tIns="9144" bIns="9144">
            <a:spAutoFit/>
          </a:bodyPr>
          <a:lstStyle/>
          <a:p>
            <a:pPr algn="l"/>
            <a:r>
              <a:rPr sz="1200" b="1">
                <a:solidFill>
                  <a:srgbClr val="FFFFFF"/>
                </a:solidFill>
                <a:latin typeface="Fragment Mono"/>
              </a:rPr>
              <a:t>●  Sabotase &amp; Pembobolan Pintu</a:t>
            </a:r>
          </a:p>
        </p:txBody>
      </p:sp>
      <p:sp>
        <p:nvSpPr>
          <p:cNvPr id="24" name="TextBox 23"/>
          <p:cNvSpPr txBox="1"/>
          <p:nvPr/>
        </p:nvSpPr>
        <p:spPr>
          <a:xfrm>
            <a:off x="6537960" y="5742432"/>
            <a:ext cx="4663440" cy="274320"/>
          </a:xfrm>
          <a:prstGeom prst="rect">
            <a:avLst/>
          </a:prstGeom>
          <a:noFill/>
        </p:spPr>
        <p:txBody>
          <a:bodyPr wrap="square" lIns="9144" rIns="9144" tIns="9144" bIns="9144">
            <a:spAutoFit/>
          </a:bodyPr>
          <a:lstStyle/>
          <a:p>
            <a:pPr algn="l"/>
            <a:r>
              <a:rPr sz="1050" b="0">
                <a:solidFill>
                  <a:srgbClr val="94A3B8"/>
                </a:solidFill>
                <a:latin typeface="Barlow"/>
              </a:rPr>
              <a:t>Pencurian komponen fisik gardu memicu gangguan sistemik tanpa peringatan dini.</a:t>
            </a:r>
          </a:p>
        </p:txBody>
      </p:sp>
    </p:spTree>
  </p:cSld>
  <p:clrMapOvr>
    <a:masterClrMapping/>
  </p:clrMapOvr>
  <p:transition spd="med" advClick="1">
    <p:fade thruBlk="0"/>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MASALAH OPERASIONAL LAPANGAN</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03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Ketiadaan Data GIS: Petugas Mencari Tiang Manual, Padam Membengkak 4–8 Jam</a:t>
            </a:r>
          </a:p>
        </p:txBody>
      </p:sp>
      <p:sp>
        <p:nvSpPr>
          <p:cNvPr id="5" name="Rounded Rectangle 4"/>
          <p:cNvSpPr/>
          <p:nvPr/>
        </p:nvSpPr>
        <p:spPr>
          <a:xfrm>
            <a:off x="548640" y="1417320"/>
            <a:ext cx="2670048" cy="2926080"/>
          </a:xfrm>
          <a:prstGeom prst="roundRect">
            <a:avLst>
              <a:gd name="adj" fmla="val 8000"/>
            </a:avLst>
          </a:prstGeom>
          <a:solidFill>
            <a:srgbClr val="14233F"/>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128016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EF4444"/>
                </a:solidFill>
                <a:latin typeface="Fragment Mono"/>
              </a:rPr>
              <a:t>FASE 01</a:t>
            </a:r>
          </a:p>
        </p:txBody>
      </p:sp>
      <p:sp>
        <p:nvSpPr>
          <p:cNvPr id="7" name="TextBox 6"/>
          <p:cNvSpPr txBox="1"/>
          <p:nvPr/>
        </p:nvSpPr>
        <p:spPr>
          <a:xfrm>
            <a:off x="731520" y="2011680"/>
            <a:ext cx="2304288" cy="594360"/>
          </a:xfrm>
          <a:prstGeom prst="rect">
            <a:avLst/>
          </a:prstGeom>
          <a:noFill/>
        </p:spPr>
        <p:txBody>
          <a:bodyPr wrap="square" lIns="9144" rIns="9144" tIns="9144" bIns="9144">
            <a:spAutoFit/>
          </a:bodyPr>
          <a:lstStyle/>
          <a:p>
            <a:pPr algn="l"/>
            <a:r>
              <a:rPr sz="1700" b="1">
                <a:solidFill>
                  <a:srgbClr val="FFFFFF"/>
                </a:solidFill>
                <a:latin typeface="Saira Semi Condensed ExtraBold"/>
              </a:rPr>
              <a:t>Trafo Meledak / Padam</a:t>
            </a:r>
          </a:p>
        </p:txBody>
      </p:sp>
      <p:sp>
        <p:nvSpPr>
          <p:cNvPr id="8" name="TextBox 7"/>
          <p:cNvSpPr txBox="1"/>
          <p:nvPr/>
        </p:nvSpPr>
        <p:spPr>
          <a:xfrm>
            <a:off x="731520" y="2697480"/>
            <a:ext cx="2304288" cy="1508760"/>
          </a:xfrm>
          <a:prstGeom prst="rect">
            <a:avLst/>
          </a:prstGeom>
          <a:noFill/>
        </p:spPr>
        <p:txBody>
          <a:bodyPr wrap="square" lIns="9144" rIns="9144" tIns="9144" bIns="9144">
            <a:spAutoFit/>
          </a:bodyPr>
          <a:lstStyle/>
          <a:p>
            <a:pPr algn="l"/>
            <a:r>
              <a:rPr sz="1200" b="0">
                <a:solidFill>
                  <a:srgbClr val="94A3B8"/>
                </a:solidFill>
                <a:latin typeface="Barlow"/>
              </a:rPr>
              <a:t>Sensor daya PLN hanya tahu penyulang trip, tapi tidak tahu trafo mana yang jebol.</a:t>
            </a:r>
          </a:p>
        </p:txBody>
      </p:sp>
      <p:sp>
        <p:nvSpPr>
          <p:cNvPr id="9" name="Rounded Rectangle 8"/>
          <p:cNvSpPr/>
          <p:nvPr/>
        </p:nvSpPr>
        <p:spPr>
          <a:xfrm>
            <a:off x="3337560" y="1417320"/>
            <a:ext cx="2670048" cy="2926080"/>
          </a:xfrm>
          <a:prstGeom prst="roundRect">
            <a:avLst>
              <a:gd name="adj" fmla="val 8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20440" y="1600200"/>
            <a:ext cx="128016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F8ED43"/>
                </a:solidFill>
                <a:latin typeface="Fragment Mono"/>
              </a:rPr>
              <a:t>FASE 02</a:t>
            </a:r>
          </a:p>
        </p:txBody>
      </p:sp>
      <p:sp>
        <p:nvSpPr>
          <p:cNvPr id="11" name="TextBox 10"/>
          <p:cNvSpPr txBox="1"/>
          <p:nvPr/>
        </p:nvSpPr>
        <p:spPr>
          <a:xfrm>
            <a:off x="3520440" y="2011680"/>
            <a:ext cx="2304288" cy="594360"/>
          </a:xfrm>
          <a:prstGeom prst="rect">
            <a:avLst/>
          </a:prstGeom>
          <a:noFill/>
        </p:spPr>
        <p:txBody>
          <a:bodyPr wrap="square" lIns="9144" rIns="9144" tIns="9144" bIns="9144">
            <a:spAutoFit/>
          </a:bodyPr>
          <a:lstStyle/>
          <a:p>
            <a:pPr algn="l"/>
            <a:r>
              <a:rPr sz="1700" b="1">
                <a:solidFill>
                  <a:srgbClr val="FFFFFF"/>
                </a:solidFill>
                <a:latin typeface="Saira Semi Condensed ExtraBold"/>
              </a:rPr>
              <a:t>Laporan Manual Pelanggan</a:t>
            </a:r>
          </a:p>
        </p:txBody>
      </p:sp>
      <p:sp>
        <p:nvSpPr>
          <p:cNvPr id="12" name="TextBox 11"/>
          <p:cNvSpPr txBox="1"/>
          <p:nvPr/>
        </p:nvSpPr>
        <p:spPr>
          <a:xfrm>
            <a:off x="3520440" y="2697480"/>
            <a:ext cx="2304288" cy="1508760"/>
          </a:xfrm>
          <a:prstGeom prst="rect">
            <a:avLst/>
          </a:prstGeom>
          <a:noFill/>
        </p:spPr>
        <p:txBody>
          <a:bodyPr wrap="square" lIns="9144" rIns="9144" tIns="9144" bIns="9144">
            <a:spAutoFit/>
          </a:bodyPr>
          <a:lstStyle/>
          <a:p>
            <a:pPr algn="l"/>
            <a:r>
              <a:rPr sz="1200" b="0">
                <a:solidFill>
                  <a:srgbClr val="94A3B8"/>
                </a:solidFill>
                <a:latin typeface="Barlow"/>
              </a:rPr>
              <a:t>Operator menunggu telepon masuk dari warga yang komplain pemadaman.</a:t>
            </a:r>
          </a:p>
        </p:txBody>
      </p:sp>
      <p:sp>
        <p:nvSpPr>
          <p:cNvPr id="13" name="Rounded Rectangle 12"/>
          <p:cNvSpPr/>
          <p:nvPr/>
        </p:nvSpPr>
        <p:spPr>
          <a:xfrm>
            <a:off x="6126479" y="1417320"/>
            <a:ext cx="2670048" cy="2926080"/>
          </a:xfrm>
          <a:prstGeom prst="roundRect">
            <a:avLst>
              <a:gd name="adj" fmla="val 8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09359" y="1600200"/>
            <a:ext cx="128016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38BDF8"/>
                </a:solidFill>
                <a:latin typeface="Fragment Mono"/>
              </a:rPr>
              <a:t>FASE 03</a:t>
            </a:r>
          </a:p>
        </p:txBody>
      </p:sp>
      <p:sp>
        <p:nvSpPr>
          <p:cNvPr id="15" name="TextBox 14"/>
          <p:cNvSpPr txBox="1"/>
          <p:nvPr/>
        </p:nvSpPr>
        <p:spPr>
          <a:xfrm>
            <a:off x="6309359" y="2011680"/>
            <a:ext cx="2304288" cy="594360"/>
          </a:xfrm>
          <a:prstGeom prst="rect">
            <a:avLst/>
          </a:prstGeom>
          <a:noFill/>
        </p:spPr>
        <p:txBody>
          <a:bodyPr wrap="square" lIns="9144" rIns="9144" tIns="9144" bIns="9144">
            <a:spAutoFit/>
          </a:bodyPr>
          <a:lstStyle/>
          <a:p>
            <a:pPr algn="l"/>
            <a:r>
              <a:rPr sz="1700" b="1">
                <a:solidFill>
                  <a:srgbClr val="FFFFFF"/>
                </a:solidFill>
                <a:latin typeface="Saira Semi Condensed ExtraBold"/>
              </a:rPr>
              <a:t>Pencarian Tiang Manual</a:t>
            </a:r>
          </a:p>
        </p:txBody>
      </p:sp>
      <p:sp>
        <p:nvSpPr>
          <p:cNvPr id="16" name="TextBox 15"/>
          <p:cNvSpPr txBox="1"/>
          <p:nvPr/>
        </p:nvSpPr>
        <p:spPr>
          <a:xfrm>
            <a:off x="6309359" y="2697480"/>
            <a:ext cx="2304288" cy="1508760"/>
          </a:xfrm>
          <a:prstGeom prst="rect">
            <a:avLst/>
          </a:prstGeom>
          <a:noFill/>
        </p:spPr>
        <p:txBody>
          <a:bodyPr wrap="square" lIns="9144" rIns="9144" tIns="9144" bIns="9144">
            <a:spAutoFit/>
          </a:bodyPr>
          <a:lstStyle/>
          <a:p>
            <a:pPr algn="l"/>
            <a:r>
              <a:rPr sz="1200" b="0">
                <a:solidFill>
                  <a:srgbClr val="94A3B8"/>
                </a:solidFill>
                <a:latin typeface="Barlow"/>
              </a:rPr>
              <a:t>Regu pemeliharaan menyusuri jalan dan memeriksa tiang satu per satu tanpa titik koordinat.</a:t>
            </a:r>
          </a:p>
        </p:txBody>
      </p:sp>
      <p:sp>
        <p:nvSpPr>
          <p:cNvPr id="17" name="Rounded Rectangle 16"/>
          <p:cNvSpPr/>
          <p:nvPr/>
        </p:nvSpPr>
        <p:spPr>
          <a:xfrm>
            <a:off x="8915399" y="1417320"/>
            <a:ext cx="2670048" cy="2926080"/>
          </a:xfrm>
          <a:prstGeom prst="roundRect">
            <a:avLst>
              <a:gd name="adj" fmla="val 8000"/>
            </a:avLst>
          </a:prstGeom>
          <a:solidFill>
            <a:srgbClr val="14233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98279" y="1600200"/>
            <a:ext cx="128016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FFFFFF"/>
                </a:solidFill>
                <a:latin typeface="Fragment Mono"/>
              </a:rPr>
              <a:t>FASE 04</a:t>
            </a:r>
          </a:p>
        </p:txBody>
      </p:sp>
      <p:sp>
        <p:nvSpPr>
          <p:cNvPr id="19" name="TextBox 18"/>
          <p:cNvSpPr txBox="1"/>
          <p:nvPr/>
        </p:nvSpPr>
        <p:spPr>
          <a:xfrm>
            <a:off x="9098279" y="2011680"/>
            <a:ext cx="2304288" cy="594360"/>
          </a:xfrm>
          <a:prstGeom prst="rect">
            <a:avLst/>
          </a:prstGeom>
          <a:noFill/>
        </p:spPr>
        <p:txBody>
          <a:bodyPr wrap="square" lIns="9144" rIns="9144" tIns="9144" bIns="9144">
            <a:spAutoFit/>
          </a:bodyPr>
          <a:lstStyle/>
          <a:p>
            <a:pPr algn="l"/>
            <a:r>
              <a:rPr sz="1700" b="1">
                <a:solidFill>
                  <a:srgbClr val="FFFFFF"/>
                </a:solidFill>
                <a:latin typeface="Saira Semi Condensed ExtraBold"/>
              </a:rPr>
              <a:t>Kerugian Kian Membengkak</a:t>
            </a:r>
          </a:p>
        </p:txBody>
      </p:sp>
      <p:sp>
        <p:nvSpPr>
          <p:cNvPr id="20" name="TextBox 19"/>
          <p:cNvSpPr txBox="1"/>
          <p:nvPr/>
        </p:nvSpPr>
        <p:spPr>
          <a:xfrm>
            <a:off x="9098279" y="2697480"/>
            <a:ext cx="2304288" cy="1508760"/>
          </a:xfrm>
          <a:prstGeom prst="rect">
            <a:avLst/>
          </a:prstGeom>
          <a:noFill/>
        </p:spPr>
        <p:txBody>
          <a:bodyPr wrap="square" lIns="9144" rIns="9144" tIns="9144" bIns="9144">
            <a:spAutoFit/>
          </a:bodyPr>
          <a:lstStyle/>
          <a:p>
            <a:pPr algn="l"/>
            <a:r>
              <a:rPr sz="1200" b="0">
                <a:solidFill>
                  <a:srgbClr val="94A3B8"/>
                </a:solidFill>
                <a:latin typeface="Barlow"/>
              </a:rPr>
              <a:t>Makin lama waktu penanganan, energi tak tersalurkan (ENS) kian menguras kas PLN.</a:t>
            </a:r>
          </a:p>
        </p:txBody>
      </p:sp>
      <p:sp>
        <p:nvSpPr>
          <p:cNvPr id="21" name="Rounded Rectangle 20"/>
          <p:cNvSpPr/>
          <p:nvPr/>
        </p:nvSpPr>
        <p:spPr>
          <a:xfrm>
            <a:off x="548640" y="4572000"/>
            <a:ext cx="5440680" cy="1783080"/>
          </a:xfrm>
          <a:prstGeom prst="roundRect">
            <a:avLst>
              <a:gd name="adj" fmla="val 8000"/>
            </a:avLst>
          </a:prstGeom>
          <a:solidFill>
            <a:srgbClr val="14233F"/>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4754880"/>
            <a:ext cx="320040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EF4444"/>
                </a:solidFill>
                <a:latin typeface="Fragment Mono"/>
              </a:rPr>
              <a:t>●  WAKTU HENTI SISTEM (DOWNTIME)</a:t>
            </a:r>
          </a:p>
        </p:txBody>
      </p:sp>
      <p:sp>
        <p:nvSpPr>
          <p:cNvPr id="23" name="TextBox 22"/>
          <p:cNvSpPr txBox="1"/>
          <p:nvPr/>
        </p:nvSpPr>
        <p:spPr>
          <a:xfrm>
            <a:off x="777240" y="5102352"/>
            <a:ext cx="4983480" cy="685800"/>
          </a:xfrm>
          <a:prstGeom prst="rect">
            <a:avLst/>
          </a:prstGeom>
          <a:noFill/>
        </p:spPr>
        <p:txBody>
          <a:bodyPr wrap="square" lIns="9144" rIns="9144" tIns="9144" bIns="9144">
            <a:spAutoFit/>
          </a:bodyPr>
          <a:lstStyle/>
          <a:p>
            <a:pPr algn="l"/>
            <a:r>
              <a:rPr sz="3800" b="1">
                <a:solidFill>
                  <a:srgbClr val="EF4444"/>
                </a:solidFill>
                <a:latin typeface="Saira Semi Condensed ExtraBold"/>
              </a:rPr>
              <a:t>4 – 8 JAM PADAM</a:t>
            </a:r>
          </a:p>
        </p:txBody>
      </p:sp>
      <p:sp>
        <p:nvSpPr>
          <p:cNvPr id="24" name="TextBox 23"/>
          <p:cNvSpPr txBox="1"/>
          <p:nvPr/>
        </p:nvSpPr>
        <p:spPr>
          <a:xfrm>
            <a:off x="777240" y="5806440"/>
            <a:ext cx="4983480" cy="411480"/>
          </a:xfrm>
          <a:prstGeom prst="rect">
            <a:avLst/>
          </a:prstGeom>
          <a:noFill/>
        </p:spPr>
        <p:txBody>
          <a:bodyPr wrap="square" lIns="9144" rIns="9144" tIns="9144" bIns="9144">
            <a:spAutoFit/>
          </a:bodyPr>
          <a:lstStyle/>
          <a:p>
            <a:pPr algn="l"/>
            <a:r>
              <a:rPr sz="1150" b="0">
                <a:solidFill>
                  <a:srgbClr val="94A3B8"/>
                </a:solidFill>
                <a:latin typeface="Barlow"/>
              </a:rPr>
              <a:t>Waktu terbuang hanya untuk menemukan lokasi tiang gardu yang sebenarnya bermasalah.</a:t>
            </a:r>
          </a:p>
        </p:txBody>
      </p:sp>
      <p:sp>
        <p:nvSpPr>
          <p:cNvPr id="25" name="Rounded Rectangle 24"/>
          <p:cNvSpPr/>
          <p:nvPr/>
        </p:nvSpPr>
        <p:spPr>
          <a:xfrm>
            <a:off x="6217920" y="4572000"/>
            <a:ext cx="5440680" cy="1783080"/>
          </a:xfrm>
          <a:prstGeom prst="roundRect">
            <a:avLst>
              <a:gd name="adj" fmla="val 8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46520" y="4754880"/>
            <a:ext cx="320040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F8ED43"/>
                </a:solidFill>
                <a:latin typeface="Fragment Mono"/>
              </a:rPr>
              <a:t>●  DAMPAK KETIADAAN GIS TEPAT</a:t>
            </a:r>
          </a:p>
        </p:txBody>
      </p:sp>
      <p:sp>
        <p:nvSpPr>
          <p:cNvPr id="27" name="TextBox 26"/>
          <p:cNvSpPr txBox="1"/>
          <p:nvPr/>
        </p:nvSpPr>
        <p:spPr>
          <a:xfrm>
            <a:off x="6446520" y="5102352"/>
            <a:ext cx="4983480" cy="685800"/>
          </a:xfrm>
          <a:prstGeom prst="rect">
            <a:avLst/>
          </a:prstGeom>
          <a:noFill/>
        </p:spPr>
        <p:txBody>
          <a:bodyPr wrap="square" lIns="9144" rIns="9144" tIns="9144" bIns="9144">
            <a:spAutoFit/>
          </a:bodyPr>
          <a:lstStyle/>
          <a:p>
            <a:pPr algn="l"/>
            <a:r>
              <a:rPr sz="3800" b="1">
                <a:solidFill>
                  <a:srgbClr val="F8ED43"/>
                </a:solidFill>
                <a:latin typeface="Saira Semi Condensed ExtraBold"/>
              </a:rPr>
              <a:t>BIAYA GANTI Rp 180 JT</a:t>
            </a:r>
          </a:p>
        </p:txBody>
      </p:sp>
      <p:sp>
        <p:nvSpPr>
          <p:cNvPr id="28" name="TextBox 27"/>
          <p:cNvSpPr txBox="1"/>
          <p:nvPr/>
        </p:nvSpPr>
        <p:spPr>
          <a:xfrm>
            <a:off x="6446520" y="5806440"/>
            <a:ext cx="4983480" cy="411480"/>
          </a:xfrm>
          <a:prstGeom prst="rect">
            <a:avLst/>
          </a:prstGeom>
          <a:noFill/>
        </p:spPr>
        <p:txBody>
          <a:bodyPr wrap="square" lIns="9144" rIns="9144" tIns="9144" bIns="9144">
            <a:spAutoFit/>
          </a:bodyPr>
          <a:lstStyle/>
          <a:p>
            <a:pPr algn="l"/>
            <a:r>
              <a:rPr sz="1150" b="0">
                <a:solidFill>
                  <a:srgbClr val="94A3B8"/>
                </a:solidFill>
                <a:latin typeface="Barlow"/>
              </a:rPr>
              <a:t>Trafo yang sebenarnya bisa diselamatkan dengan pemeliharaan dini terlanjur hancur terbakar total.</a:t>
            </a:r>
          </a:p>
        </p:txBody>
      </p:sp>
    </p:spTree>
  </p:cSld>
  <p:clrMapOvr>
    <a:masterClrMapping/>
  </p:clrMapOvr>
  <p:transition spd="med" advClick="1">
    <p:fade thruBlk="0"/>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SOLUSI TEKNOLOGI SENTINEL-X</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04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Monitoring 3 Parameter Kritis Non-Kelistrikan Menuju Rekomendasi Cerdas</a:t>
            </a:r>
          </a:p>
        </p:txBody>
      </p:sp>
      <p:sp>
        <p:nvSpPr>
          <p:cNvPr id="5" name="Rounded Rectangle 4"/>
          <p:cNvSpPr/>
          <p:nvPr/>
        </p:nvSpPr>
        <p:spPr>
          <a:xfrm>
            <a:off x="548640" y="1417320"/>
            <a:ext cx="3520440" cy="3977639"/>
          </a:xfrm>
          <a:prstGeom prst="roundRect">
            <a:avLst>
              <a:gd name="adj" fmla="val 8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118872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F8ED43"/>
                </a:solidFill>
                <a:latin typeface="Fragment Mono"/>
              </a:rPr>
              <a:t>SENSOR 01</a:t>
            </a:r>
          </a:p>
        </p:txBody>
      </p:sp>
      <p:sp>
        <p:nvSpPr>
          <p:cNvPr id="7" name="TextBox 6"/>
          <p:cNvSpPr txBox="1"/>
          <p:nvPr/>
        </p:nvSpPr>
        <p:spPr>
          <a:xfrm>
            <a:off x="731520" y="2057400"/>
            <a:ext cx="3154680" cy="640080"/>
          </a:xfrm>
          <a:prstGeom prst="rect">
            <a:avLst/>
          </a:prstGeom>
          <a:noFill/>
        </p:spPr>
        <p:txBody>
          <a:bodyPr wrap="square" lIns="9144" rIns="9144" tIns="9144" bIns="9144">
            <a:spAutoFit/>
          </a:bodyPr>
          <a:lstStyle/>
          <a:p>
            <a:pPr algn="l"/>
            <a:r>
              <a:rPr sz="1800" b="1">
                <a:solidFill>
                  <a:srgbClr val="FFFFFF"/>
                </a:solidFill>
                <a:latin typeface="Saira Semi Condensed ExtraBold"/>
              </a:rPr>
              <a:t>Sensor Gas Berbahaya</a:t>
            </a:r>
          </a:p>
        </p:txBody>
      </p:sp>
      <p:sp>
        <p:nvSpPr>
          <p:cNvPr id="8" name="TextBox 7"/>
          <p:cNvSpPr txBox="1"/>
          <p:nvPr/>
        </p:nvSpPr>
        <p:spPr>
          <a:xfrm>
            <a:off x="731520" y="2743200"/>
            <a:ext cx="3154680" cy="320040"/>
          </a:xfrm>
          <a:prstGeom prst="rect">
            <a:avLst/>
          </a:prstGeom>
          <a:noFill/>
        </p:spPr>
        <p:txBody>
          <a:bodyPr wrap="square" lIns="9144" rIns="9144" tIns="9144" bIns="9144">
            <a:spAutoFit/>
          </a:bodyPr>
          <a:lstStyle/>
          <a:p>
            <a:pPr algn="l"/>
            <a:r>
              <a:rPr sz="1200" b="1">
                <a:solidFill>
                  <a:srgbClr val="F8ED43"/>
                </a:solidFill>
                <a:latin typeface="Fragment Mono"/>
              </a:rPr>
              <a:t>Deteksi Dini Indikasi Kebakaran</a:t>
            </a:r>
          </a:p>
        </p:txBody>
      </p:sp>
      <p:sp>
        <p:nvSpPr>
          <p:cNvPr id="9" name="TextBox 8"/>
          <p:cNvSpPr txBox="1"/>
          <p:nvPr/>
        </p:nvSpPr>
        <p:spPr>
          <a:xfrm>
            <a:off x="731520" y="3154680"/>
            <a:ext cx="3154680" cy="2057400"/>
          </a:xfrm>
          <a:prstGeom prst="rect">
            <a:avLst/>
          </a:prstGeom>
          <a:noFill/>
        </p:spPr>
        <p:txBody>
          <a:bodyPr wrap="square" lIns="9144" rIns="9144" tIns="9144" bIns="9144">
            <a:spAutoFit/>
          </a:bodyPr>
          <a:lstStyle/>
          <a:p>
            <a:pPr algn="l"/>
            <a:r>
              <a:rPr sz="1200" b="0">
                <a:solidFill>
                  <a:srgbClr val="94A3B8"/>
                </a:solidFill>
                <a:latin typeface="Barlow"/>
              </a:rPr>
              <a:t>Mendeteksi pelepasan gas hidrokarbon/flammable dari degradasi minyak isolasi trafo sebelum memicu kobaran api.</a:t>
            </a:r>
          </a:p>
        </p:txBody>
      </p:sp>
      <p:sp>
        <p:nvSpPr>
          <p:cNvPr id="10" name="Rounded Rectangle 9"/>
          <p:cNvSpPr/>
          <p:nvPr/>
        </p:nvSpPr>
        <p:spPr>
          <a:xfrm>
            <a:off x="4343400" y="1417320"/>
            <a:ext cx="3520440" cy="3977639"/>
          </a:xfrm>
          <a:prstGeom prst="roundRect">
            <a:avLst>
              <a:gd name="adj" fmla="val 8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645920"/>
            <a:ext cx="118872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38BDF8"/>
                </a:solidFill>
                <a:latin typeface="Fragment Mono"/>
              </a:rPr>
              <a:t>SENSOR 02</a:t>
            </a:r>
          </a:p>
        </p:txBody>
      </p:sp>
      <p:sp>
        <p:nvSpPr>
          <p:cNvPr id="12" name="TextBox 11"/>
          <p:cNvSpPr txBox="1"/>
          <p:nvPr/>
        </p:nvSpPr>
        <p:spPr>
          <a:xfrm>
            <a:off x="4526280" y="2057400"/>
            <a:ext cx="3154680" cy="640080"/>
          </a:xfrm>
          <a:prstGeom prst="rect">
            <a:avLst/>
          </a:prstGeom>
          <a:noFill/>
        </p:spPr>
        <p:txBody>
          <a:bodyPr wrap="square" lIns="9144" rIns="9144" tIns="9144" bIns="9144">
            <a:spAutoFit/>
          </a:bodyPr>
          <a:lstStyle/>
          <a:p>
            <a:pPr algn="l"/>
            <a:r>
              <a:rPr sz="1800" b="1">
                <a:solidFill>
                  <a:srgbClr val="FFFFFF"/>
                </a:solidFill>
                <a:latin typeface="Saira Semi Condensed ExtraBold"/>
              </a:rPr>
              <a:t>Sensor Getaran Noise Trafo</a:t>
            </a:r>
          </a:p>
        </p:txBody>
      </p:sp>
      <p:sp>
        <p:nvSpPr>
          <p:cNvPr id="13" name="TextBox 12"/>
          <p:cNvSpPr txBox="1"/>
          <p:nvPr/>
        </p:nvSpPr>
        <p:spPr>
          <a:xfrm>
            <a:off x="4526280" y="2743200"/>
            <a:ext cx="3154680" cy="320040"/>
          </a:xfrm>
          <a:prstGeom prst="rect">
            <a:avLst/>
          </a:prstGeom>
          <a:noFill/>
        </p:spPr>
        <p:txBody>
          <a:bodyPr wrap="square" lIns="9144" rIns="9144" tIns="9144" bIns="9144">
            <a:spAutoFit/>
          </a:bodyPr>
          <a:lstStyle/>
          <a:p>
            <a:pPr algn="l"/>
            <a:r>
              <a:rPr sz="1200" b="1">
                <a:solidFill>
                  <a:srgbClr val="38BDF8"/>
                </a:solidFill>
                <a:latin typeface="Fragment Mono"/>
              </a:rPr>
              <a:t>Deteksi Anomali Mekanis &amp; Baut Kendor</a:t>
            </a:r>
          </a:p>
        </p:txBody>
      </p:sp>
      <p:sp>
        <p:nvSpPr>
          <p:cNvPr id="14" name="TextBox 13"/>
          <p:cNvSpPr txBox="1"/>
          <p:nvPr/>
        </p:nvSpPr>
        <p:spPr>
          <a:xfrm>
            <a:off x="4526280" y="3154680"/>
            <a:ext cx="3154680" cy="2057400"/>
          </a:xfrm>
          <a:prstGeom prst="rect">
            <a:avLst/>
          </a:prstGeom>
          <a:noFill/>
        </p:spPr>
        <p:txBody>
          <a:bodyPr wrap="square" lIns="9144" rIns="9144" tIns="9144" bIns="9144">
            <a:spAutoFit/>
          </a:bodyPr>
          <a:lstStyle/>
          <a:p>
            <a:pPr algn="l"/>
            <a:r>
              <a:rPr sz="1200" b="0">
                <a:solidFill>
                  <a:srgbClr val="94A3B8"/>
                </a:solidFill>
                <a:latin typeface="Barlow"/>
              </a:rPr>
              <a:t>Membaca noise getaran abnormal dan harmonisa getaran inti trafo yang menandakan kerusakan struktur internal.</a:t>
            </a:r>
          </a:p>
        </p:txBody>
      </p:sp>
      <p:sp>
        <p:nvSpPr>
          <p:cNvPr id="15" name="Rounded Rectangle 14"/>
          <p:cNvSpPr/>
          <p:nvPr/>
        </p:nvSpPr>
        <p:spPr>
          <a:xfrm>
            <a:off x="8138160" y="1417320"/>
            <a:ext cx="3520440" cy="3977639"/>
          </a:xfrm>
          <a:prstGeom prst="roundRect">
            <a:avLst>
              <a:gd name="adj" fmla="val 8000"/>
            </a:avLst>
          </a:prstGeom>
          <a:solidFill>
            <a:srgbClr val="14233F"/>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21040" y="1645920"/>
            <a:ext cx="1188720" cy="29260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EF4444"/>
                </a:solidFill>
                <a:latin typeface="Fragment Mono"/>
              </a:rPr>
              <a:t>SENSOR 03</a:t>
            </a:r>
          </a:p>
        </p:txBody>
      </p:sp>
      <p:sp>
        <p:nvSpPr>
          <p:cNvPr id="17" name="TextBox 16"/>
          <p:cNvSpPr txBox="1"/>
          <p:nvPr/>
        </p:nvSpPr>
        <p:spPr>
          <a:xfrm>
            <a:off x="8321040" y="2057400"/>
            <a:ext cx="3154680" cy="640080"/>
          </a:xfrm>
          <a:prstGeom prst="rect">
            <a:avLst/>
          </a:prstGeom>
          <a:noFill/>
        </p:spPr>
        <p:txBody>
          <a:bodyPr wrap="square" lIns="9144" rIns="9144" tIns="9144" bIns="9144">
            <a:spAutoFit/>
          </a:bodyPr>
          <a:lstStyle/>
          <a:p>
            <a:pPr algn="l"/>
            <a:r>
              <a:rPr sz="1800" b="1">
                <a:solidFill>
                  <a:srgbClr val="FFFFFF"/>
                </a:solidFill>
                <a:latin typeface="Saira Semi Condensed ExtraBold"/>
              </a:rPr>
              <a:t>Sensor Perimeter Pintu Gardu</a:t>
            </a:r>
          </a:p>
        </p:txBody>
      </p:sp>
      <p:sp>
        <p:nvSpPr>
          <p:cNvPr id="18" name="TextBox 17"/>
          <p:cNvSpPr txBox="1"/>
          <p:nvPr/>
        </p:nvSpPr>
        <p:spPr>
          <a:xfrm>
            <a:off x="8321040" y="2743200"/>
            <a:ext cx="3154680" cy="320040"/>
          </a:xfrm>
          <a:prstGeom prst="rect">
            <a:avLst/>
          </a:prstGeom>
          <a:noFill/>
        </p:spPr>
        <p:txBody>
          <a:bodyPr wrap="square" lIns="9144" rIns="9144" tIns="9144" bIns="9144">
            <a:spAutoFit/>
          </a:bodyPr>
          <a:lstStyle/>
          <a:p>
            <a:pPr algn="l"/>
            <a:r>
              <a:rPr sz="1200" b="1">
                <a:solidFill>
                  <a:srgbClr val="EF4444"/>
                </a:solidFill>
                <a:latin typeface="Fragment Mono"/>
              </a:rPr>
              <a:t>Deteksi Sabotase &amp; Pembobolan</a:t>
            </a:r>
          </a:p>
        </p:txBody>
      </p:sp>
      <p:sp>
        <p:nvSpPr>
          <p:cNvPr id="19" name="TextBox 18"/>
          <p:cNvSpPr txBox="1"/>
          <p:nvPr/>
        </p:nvSpPr>
        <p:spPr>
          <a:xfrm>
            <a:off x="8321040" y="3154680"/>
            <a:ext cx="3154680" cy="2057400"/>
          </a:xfrm>
          <a:prstGeom prst="rect">
            <a:avLst/>
          </a:prstGeom>
          <a:noFill/>
        </p:spPr>
        <p:txBody>
          <a:bodyPr wrap="square" lIns="9144" rIns="9144" tIns="9144" bIns="9144">
            <a:spAutoFit/>
          </a:bodyPr>
          <a:lstStyle/>
          <a:p>
            <a:pPr algn="l"/>
            <a:r>
              <a:rPr sz="1200" b="0">
                <a:solidFill>
                  <a:srgbClr val="94A3B8"/>
                </a:solidFill>
                <a:latin typeface="Barlow"/>
              </a:rPr>
              <a:t>Menggunakan verifikasi loop kontinuitas sub-miliwatt dan interrupt hardware untuk mendeteksi pintu dibuka paksa.</a:t>
            </a:r>
          </a:p>
        </p:txBody>
      </p:sp>
      <p:sp>
        <p:nvSpPr>
          <p:cNvPr id="20" name="Rounded Rectangle 19"/>
          <p:cNvSpPr/>
          <p:nvPr/>
        </p:nvSpPr>
        <p:spPr>
          <a:xfrm>
            <a:off x="548640" y="5532120"/>
            <a:ext cx="11109960" cy="868680"/>
          </a:xfrm>
          <a:prstGeom prst="roundRect">
            <a:avLst>
              <a:gd name="adj" fmla="val 6000"/>
            </a:avLst>
          </a:prstGeom>
          <a:solidFill>
            <a:srgbClr val="1C3056"/>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650992"/>
            <a:ext cx="10652760" cy="292608"/>
          </a:xfrm>
          <a:prstGeom prst="rect">
            <a:avLst/>
          </a:prstGeom>
          <a:noFill/>
        </p:spPr>
        <p:txBody>
          <a:bodyPr wrap="square" lIns="9144" rIns="9144" tIns="9144" bIns="9144">
            <a:spAutoFit/>
          </a:bodyPr>
          <a:lstStyle/>
          <a:p>
            <a:pPr algn="l"/>
            <a:r>
              <a:rPr sz="1300" b="1">
                <a:solidFill>
                  <a:srgbClr val="F8ED43"/>
                </a:solidFill>
                <a:latin typeface="Fragment Mono"/>
              </a:rPr>
              <a:t>FUSI 3 SENSOR KE EDGE AI INT8  ➔  MENGHASILKAN KEPUTUSAN TINDAKAN OTOMATIS</a:t>
            </a:r>
          </a:p>
        </p:txBody>
      </p:sp>
      <p:sp>
        <p:nvSpPr>
          <p:cNvPr id="22" name="TextBox 21"/>
          <p:cNvSpPr txBox="1"/>
          <p:nvPr/>
        </p:nvSpPr>
        <p:spPr>
          <a:xfrm>
            <a:off x="777240" y="5961888"/>
            <a:ext cx="10652760" cy="320040"/>
          </a:xfrm>
          <a:prstGeom prst="rect">
            <a:avLst/>
          </a:prstGeom>
          <a:noFill/>
        </p:spPr>
        <p:txBody>
          <a:bodyPr wrap="square" lIns="9144" rIns="9144" tIns="9144" bIns="9144">
            <a:spAutoFit/>
          </a:bodyPr>
          <a:lstStyle/>
          <a:p>
            <a:pPr algn="l"/>
            <a:r>
              <a:rPr sz="1150" b="0">
                <a:solidFill>
                  <a:srgbClr val="E6F4FF"/>
                </a:solidFill>
                <a:latin typeface="Barlow"/>
              </a:rPr>
              <a:t>Ketiga input sensor dianalisis secara lokal tanpa membebani cloud, langsung dikirim ke Dashboard GIS saat ada anomali.</a:t>
            </a:r>
          </a:p>
        </p:txBody>
      </p:sp>
    </p:spTree>
  </p:cSld>
  <p:clrMapOvr>
    <a:masterClrMapping/>
  </p:clrMapOvr>
  <p:transition spd="med" advClick="1">
    <p:fade thruBlk="0"/>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GIS &amp; DECISION ENGINE</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05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Sistem Informasi Geografi &amp; Rekomendasi Tindakan Langsung untuk PLN</a:t>
            </a:r>
          </a:p>
        </p:txBody>
      </p:sp>
      <p:sp>
        <p:nvSpPr>
          <p:cNvPr id="5" name="Rounded Rectangle 4"/>
          <p:cNvSpPr/>
          <p:nvPr/>
        </p:nvSpPr>
        <p:spPr>
          <a:xfrm>
            <a:off x="548640" y="1417320"/>
            <a:ext cx="5303520" cy="4983480"/>
          </a:xfrm>
          <a:prstGeom prst="roundRect">
            <a:avLst>
              <a:gd name="adj" fmla="val 6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384048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50" b="1">
                <a:solidFill>
                  <a:srgbClr val="38BDF8"/>
                </a:solidFill>
                <a:latin typeface="Fragment Mono"/>
              </a:rPr>
              <a:t>●  KEUNGGULAN GIS: NAVIGASI PRESISI 100%</a:t>
            </a:r>
          </a:p>
        </p:txBody>
      </p:sp>
      <p:sp>
        <p:nvSpPr>
          <p:cNvPr id="7" name="TextBox 6"/>
          <p:cNvSpPr txBox="1"/>
          <p:nvPr/>
        </p:nvSpPr>
        <p:spPr>
          <a:xfrm>
            <a:off x="777240" y="2057400"/>
            <a:ext cx="4846320" cy="685800"/>
          </a:xfrm>
          <a:prstGeom prst="rect">
            <a:avLst/>
          </a:prstGeom>
          <a:noFill/>
        </p:spPr>
        <p:txBody>
          <a:bodyPr wrap="square" lIns="9144" rIns="9144" tIns="9144" bIns="9144">
            <a:spAutoFit/>
          </a:bodyPr>
          <a:lstStyle/>
          <a:p>
            <a:pPr algn="l"/>
            <a:r>
              <a:rPr sz="2200" b="1">
                <a:solidFill>
                  <a:srgbClr val="FFFFFF"/>
                </a:solidFill>
                <a:latin typeface="Saira Semi Condensed ExtraBold"/>
              </a:rPr>
              <a:t>Tahu Eksak Tiang &amp; Trafo Mana yang Rusak</a:t>
            </a:r>
          </a:p>
        </p:txBody>
      </p:sp>
      <p:sp>
        <p:nvSpPr>
          <p:cNvPr id="8" name="TextBox 7"/>
          <p:cNvSpPr txBox="1"/>
          <p:nvPr/>
        </p:nvSpPr>
        <p:spPr>
          <a:xfrm>
            <a:off x="777240" y="2926080"/>
            <a:ext cx="4846320" cy="256032"/>
          </a:xfrm>
          <a:prstGeom prst="rect">
            <a:avLst/>
          </a:prstGeom>
          <a:noFill/>
        </p:spPr>
        <p:txBody>
          <a:bodyPr wrap="square" lIns="9144" rIns="9144" tIns="9144" bIns="9144">
            <a:spAutoFit/>
          </a:bodyPr>
          <a:lstStyle/>
          <a:p>
            <a:pPr algn="l"/>
            <a:r>
              <a:rPr sz="1300" b="1">
                <a:solidFill>
                  <a:srgbClr val="38BDF8"/>
                </a:solidFill>
                <a:latin typeface="Fragment Mono"/>
              </a:rPr>
              <a:t>Peta Koordinat Real-Time:</a:t>
            </a:r>
          </a:p>
        </p:txBody>
      </p:sp>
      <p:sp>
        <p:nvSpPr>
          <p:cNvPr id="9" name="TextBox 8"/>
          <p:cNvSpPr txBox="1"/>
          <p:nvPr/>
        </p:nvSpPr>
        <p:spPr>
          <a:xfrm>
            <a:off x="777240" y="3182112"/>
            <a:ext cx="4846320" cy="594360"/>
          </a:xfrm>
          <a:prstGeom prst="rect">
            <a:avLst/>
          </a:prstGeom>
          <a:noFill/>
        </p:spPr>
        <p:txBody>
          <a:bodyPr wrap="square" lIns="9144" rIns="9144" tIns="9144" bIns="9144">
            <a:spAutoFit/>
          </a:bodyPr>
          <a:lstStyle/>
          <a:p>
            <a:pPr algn="l"/>
            <a:r>
              <a:rPr sz="1200" b="0">
                <a:solidFill>
                  <a:srgbClr val="94A3B8"/>
                </a:solidFill>
                <a:latin typeface="Barlow"/>
              </a:rPr>
              <a:t>Setiap gardu memiliki pin point digital lengkap dengan nomor aset trafo &amp; histori status.</a:t>
            </a:r>
          </a:p>
        </p:txBody>
      </p:sp>
      <p:sp>
        <p:nvSpPr>
          <p:cNvPr id="10" name="TextBox 9"/>
          <p:cNvSpPr txBox="1"/>
          <p:nvPr/>
        </p:nvSpPr>
        <p:spPr>
          <a:xfrm>
            <a:off x="777240" y="3886200"/>
            <a:ext cx="4846320" cy="256032"/>
          </a:xfrm>
          <a:prstGeom prst="rect">
            <a:avLst/>
          </a:prstGeom>
          <a:noFill/>
        </p:spPr>
        <p:txBody>
          <a:bodyPr wrap="square" lIns="9144" rIns="9144" tIns="9144" bIns="9144">
            <a:spAutoFit/>
          </a:bodyPr>
          <a:lstStyle/>
          <a:p>
            <a:pPr algn="l"/>
            <a:r>
              <a:rPr sz="1300" b="1">
                <a:solidFill>
                  <a:srgbClr val="38BDF8"/>
                </a:solidFill>
                <a:latin typeface="Fragment Mono"/>
              </a:rPr>
              <a:t>Potong Waktu Pencarian:</a:t>
            </a:r>
          </a:p>
        </p:txBody>
      </p:sp>
      <p:sp>
        <p:nvSpPr>
          <p:cNvPr id="11" name="TextBox 10"/>
          <p:cNvSpPr txBox="1"/>
          <p:nvPr/>
        </p:nvSpPr>
        <p:spPr>
          <a:xfrm>
            <a:off x="777240" y="4142232"/>
            <a:ext cx="4846320" cy="594360"/>
          </a:xfrm>
          <a:prstGeom prst="rect">
            <a:avLst/>
          </a:prstGeom>
          <a:noFill/>
        </p:spPr>
        <p:txBody>
          <a:bodyPr wrap="square" lIns="9144" rIns="9144" tIns="9144" bIns="9144">
            <a:spAutoFit/>
          </a:bodyPr>
          <a:lstStyle/>
          <a:p>
            <a:pPr algn="l"/>
            <a:r>
              <a:rPr sz="1200" b="0">
                <a:solidFill>
                  <a:srgbClr val="94A3B8"/>
                </a:solidFill>
                <a:latin typeface="Barlow"/>
              </a:rPr>
              <a:t>Memangkas waktu pencarian tiang 4–8 jam menjadi navigasi langsung regu pemeliharaan.</a:t>
            </a:r>
          </a:p>
        </p:txBody>
      </p:sp>
      <p:sp>
        <p:nvSpPr>
          <p:cNvPr id="12" name="TextBox 11"/>
          <p:cNvSpPr txBox="1"/>
          <p:nvPr/>
        </p:nvSpPr>
        <p:spPr>
          <a:xfrm>
            <a:off x="777240" y="4846320"/>
            <a:ext cx="4846320" cy="256032"/>
          </a:xfrm>
          <a:prstGeom prst="rect">
            <a:avLst/>
          </a:prstGeom>
          <a:noFill/>
        </p:spPr>
        <p:txBody>
          <a:bodyPr wrap="square" lIns="9144" rIns="9144" tIns="9144" bIns="9144">
            <a:spAutoFit/>
          </a:bodyPr>
          <a:lstStyle/>
          <a:p>
            <a:pPr algn="l"/>
            <a:r>
              <a:rPr sz="1300" b="1">
                <a:solidFill>
                  <a:srgbClr val="38BDF8"/>
                </a:solidFill>
                <a:latin typeface="Fragment Mono"/>
              </a:rPr>
              <a:t>Respon Terpadu:</a:t>
            </a:r>
          </a:p>
        </p:txBody>
      </p:sp>
      <p:sp>
        <p:nvSpPr>
          <p:cNvPr id="13" name="TextBox 12"/>
          <p:cNvSpPr txBox="1"/>
          <p:nvPr/>
        </p:nvSpPr>
        <p:spPr>
          <a:xfrm>
            <a:off x="777240" y="5102352"/>
            <a:ext cx="4846320" cy="594360"/>
          </a:xfrm>
          <a:prstGeom prst="rect">
            <a:avLst/>
          </a:prstGeom>
          <a:noFill/>
        </p:spPr>
        <p:txBody>
          <a:bodyPr wrap="square" lIns="9144" rIns="9144" tIns="9144" bIns="9144">
            <a:spAutoFit/>
          </a:bodyPr>
          <a:lstStyle/>
          <a:p>
            <a:pPr algn="l"/>
            <a:r>
              <a:rPr sz="1200" b="0">
                <a:solidFill>
                  <a:srgbClr val="94A3B8"/>
                </a:solidFill>
                <a:latin typeface="Barlow"/>
              </a:rPr>
              <a:t>Teknisi langsung menuju titik yang tepat membawa suku cadang yang sesuai kebutuhan.</a:t>
            </a:r>
          </a:p>
        </p:txBody>
      </p:sp>
      <p:sp>
        <p:nvSpPr>
          <p:cNvPr id="14" name="Rounded Rectangle 13"/>
          <p:cNvSpPr/>
          <p:nvPr/>
        </p:nvSpPr>
        <p:spPr>
          <a:xfrm>
            <a:off x="6126480" y="1417320"/>
            <a:ext cx="5532120" cy="4983480"/>
          </a:xfrm>
          <a:prstGeom prst="roundRect">
            <a:avLst>
              <a:gd name="adj" fmla="val 6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55080" y="1645920"/>
            <a:ext cx="438912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50" b="1">
                <a:solidFill>
                  <a:srgbClr val="F8ED43"/>
                </a:solidFill>
                <a:latin typeface="Fragment Mono"/>
              </a:rPr>
              <a:t>●  REKOMENDASI TINDAKAN BERBASIS ROOT-CAUSE</a:t>
            </a:r>
          </a:p>
        </p:txBody>
      </p:sp>
      <p:sp>
        <p:nvSpPr>
          <p:cNvPr id="16" name="Rounded Rectangle 15"/>
          <p:cNvSpPr/>
          <p:nvPr/>
        </p:nvSpPr>
        <p:spPr>
          <a:xfrm>
            <a:off x="6355080" y="2057400"/>
            <a:ext cx="5074920" cy="1261872"/>
          </a:xfrm>
          <a:prstGeom prst="roundRect">
            <a:avLst>
              <a:gd name="adj" fmla="val 8000"/>
            </a:avLst>
          </a:prstGeom>
          <a:solidFill>
            <a:srgbClr val="1C3056"/>
          </a:solidFill>
          <a:ln w="1524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92240" y="2167128"/>
            <a:ext cx="292608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900" b="1">
                <a:solidFill>
                  <a:srgbClr val="EF4444"/>
                </a:solidFill>
                <a:latin typeface="Fragment Mono"/>
              </a:rPr>
              <a:t>INDIKASI KEBAKARAN / GAS NAIK</a:t>
            </a:r>
          </a:p>
        </p:txBody>
      </p:sp>
      <p:sp>
        <p:nvSpPr>
          <p:cNvPr id="18" name="TextBox 17"/>
          <p:cNvSpPr txBox="1"/>
          <p:nvPr/>
        </p:nvSpPr>
        <p:spPr>
          <a:xfrm>
            <a:off x="6492240" y="2441448"/>
            <a:ext cx="480060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Kirim Tim Pemadam / Periksa Oli Trafo</a:t>
            </a:r>
          </a:p>
        </p:txBody>
      </p:sp>
      <p:sp>
        <p:nvSpPr>
          <p:cNvPr id="19" name="TextBox 18"/>
          <p:cNvSpPr txBox="1"/>
          <p:nvPr/>
        </p:nvSpPr>
        <p:spPr>
          <a:xfrm>
            <a:off x="6492240" y="2752344"/>
            <a:ext cx="4800600" cy="502920"/>
          </a:xfrm>
          <a:prstGeom prst="rect">
            <a:avLst/>
          </a:prstGeom>
          <a:noFill/>
        </p:spPr>
        <p:txBody>
          <a:bodyPr wrap="square" lIns="9144" rIns="9144" tIns="9144" bIns="9144">
            <a:spAutoFit/>
          </a:bodyPr>
          <a:lstStyle/>
          <a:p>
            <a:pPr algn="l"/>
            <a:r>
              <a:rPr sz="1100" b="0">
                <a:solidFill>
                  <a:srgbClr val="94A3B8"/>
                </a:solidFill>
                <a:latin typeface="Barlow"/>
              </a:rPr>
              <a:t>Alasan Cerdas: Sensor mendeteksi kenaikan gas terlarut &gt; 120 ppm. Trafo diisolasi otomatis untuk mencegah kebakaran meluas.</a:t>
            </a:r>
          </a:p>
        </p:txBody>
      </p:sp>
      <p:sp>
        <p:nvSpPr>
          <p:cNvPr id="20" name="Rounded Rectangle 19"/>
          <p:cNvSpPr/>
          <p:nvPr/>
        </p:nvSpPr>
        <p:spPr>
          <a:xfrm>
            <a:off x="6355080" y="3447288"/>
            <a:ext cx="5074920" cy="1261872"/>
          </a:xfrm>
          <a:prstGeom prst="roundRect">
            <a:avLst>
              <a:gd name="adj" fmla="val 8000"/>
            </a:avLst>
          </a:prstGeom>
          <a:solidFill>
            <a:srgbClr val="1C3056"/>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92240" y="3557016"/>
            <a:ext cx="292608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900" b="1">
                <a:solidFill>
                  <a:srgbClr val="F8ED43"/>
                </a:solidFill>
                <a:latin typeface="Fragment Mono"/>
              </a:rPr>
              <a:t>NOISE GETARAN MEKANIS TINGGI</a:t>
            </a:r>
          </a:p>
        </p:txBody>
      </p:sp>
      <p:sp>
        <p:nvSpPr>
          <p:cNvPr id="22" name="TextBox 21"/>
          <p:cNvSpPr txBox="1"/>
          <p:nvPr/>
        </p:nvSpPr>
        <p:spPr>
          <a:xfrm>
            <a:off x="6492240" y="3831336"/>
            <a:ext cx="480060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Kencangkan Baut Inti / Ganti Bearing</a:t>
            </a:r>
          </a:p>
        </p:txBody>
      </p:sp>
      <p:sp>
        <p:nvSpPr>
          <p:cNvPr id="23" name="TextBox 22"/>
          <p:cNvSpPr txBox="1"/>
          <p:nvPr/>
        </p:nvSpPr>
        <p:spPr>
          <a:xfrm>
            <a:off x="6492240" y="4142232"/>
            <a:ext cx="4800600" cy="502920"/>
          </a:xfrm>
          <a:prstGeom prst="rect">
            <a:avLst/>
          </a:prstGeom>
          <a:noFill/>
        </p:spPr>
        <p:txBody>
          <a:bodyPr wrap="square" lIns="9144" rIns="9144" tIns="9144" bIns="9144">
            <a:spAutoFit/>
          </a:bodyPr>
          <a:lstStyle/>
          <a:p>
            <a:pPr algn="l"/>
            <a:r>
              <a:rPr sz="1100" b="0">
                <a:solidFill>
                  <a:srgbClr val="94A3B8"/>
                </a:solidFill>
                <a:latin typeface="Barlow"/>
              </a:rPr>
              <a:t>Alasan Cerdas: Terdeteksi puncak harmonik getaran abnormal. Perbaikan preventif terjadwal sebelum inti trafo rusak total.</a:t>
            </a:r>
          </a:p>
        </p:txBody>
      </p:sp>
      <p:sp>
        <p:nvSpPr>
          <p:cNvPr id="24" name="Rounded Rectangle 23"/>
          <p:cNvSpPr/>
          <p:nvPr/>
        </p:nvSpPr>
        <p:spPr>
          <a:xfrm>
            <a:off x="6355080" y="4837176"/>
            <a:ext cx="5074920" cy="1261872"/>
          </a:xfrm>
          <a:prstGeom prst="roundRect">
            <a:avLst>
              <a:gd name="adj" fmla="val 8000"/>
            </a:avLst>
          </a:prstGeom>
          <a:solidFill>
            <a:srgbClr val="1C3056"/>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92240" y="4946904"/>
            <a:ext cx="292608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900" b="1">
                <a:solidFill>
                  <a:srgbClr val="38BDF8"/>
                </a:solidFill>
                <a:latin typeface="Fragment Mono"/>
              </a:rPr>
              <a:t>PEMBOBOLAN PINTU GARDU</a:t>
            </a:r>
          </a:p>
        </p:txBody>
      </p:sp>
      <p:sp>
        <p:nvSpPr>
          <p:cNvPr id="26" name="TextBox 25"/>
          <p:cNvSpPr txBox="1"/>
          <p:nvPr/>
        </p:nvSpPr>
        <p:spPr>
          <a:xfrm>
            <a:off x="6492240" y="5221224"/>
            <a:ext cx="480060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Kirim Regu Pengamanan &amp; Polisi</a:t>
            </a:r>
          </a:p>
        </p:txBody>
      </p:sp>
      <p:sp>
        <p:nvSpPr>
          <p:cNvPr id="27" name="TextBox 26"/>
          <p:cNvSpPr txBox="1"/>
          <p:nvPr/>
        </p:nvSpPr>
        <p:spPr>
          <a:xfrm>
            <a:off x="6492240" y="5532120"/>
            <a:ext cx="4800600" cy="502920"/>
          </a:xfrm>
          <a:prstGeom prst="rect">
            <a:avLst/>
          </a:prstGeom>
          <a:noFill/>
        </p:spPr>
        <p:txBody>
          <a:bodyPr wrap="square" lIns="9144" rIns="9144" tIns="9144" bIns="9144">
            <a:spAutoFit/>
          </a:bodyPr>
          <a:lstStyle/>
          <a:p>
            <a:pPr algn="l"/>
            <a:r>
              <a:rPr sz="1100" b="0">
                <a:solidFill>
                  <a:srgbClr val="94A3B8"/>
                </a:solidFill>
                <a:latin typeface="Barlow"/>
              </a:rPr>
              <a:t>Alasan Cerdas: Loop kawat perimeter terputus pada pukul 02:15 WIB. Indikasi pencurian komponen sedang berlangsung.</a:t>
            </a:r>
          </a:p>
        </p:txBody>
      </p:sp>
    </p:spTree>
  </p:cSld>
  <p:clrMapOvr>
    <a:masterClrMapping/>
  </p:clrMapOvr>
  <p:transition spd="med" advClick="1">
    <p:fade thruBlk="0"/>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ANTARMUKA SCADA GIS LIVE</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06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Dashboard Monitoring Geospasial &amp; Notifikasi Rekomendasi Tindakan</a:t>
            </a:r>
          </a:p>
        </p:txBody>
      </p:sp>
      <p:sp>
        <p:nvSpPr>
          <p:cNvPr id="5" name="Rounded Rectangle 4"/>
          <p:cNvSpPr/>
          <p:nvPr/>
        </p:nvSpPr>
        <p:spPr>
          <a:xfrm>
            <a:off x="548640" y="1417320"/>
            <a:ext cx="11109960" cy="4983480"/>
          </a:xfrm>
          <a:prstGeom prst="roundRect">
            <a:avLst>
              <a:gd name="adj" fmla="val 6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691640"/>
            <a:ext cx="10561320" cy="3931920"/>
          </a:xfrm>
          <a:prstGeom prst="roundRect">
            <a:avLst>
              <a:gd name="adj" fmla="val 4000"/>
            </a:avLst>
          </a:prstGeom>
          <a:solidFill>
            <a:srgbClr val="1C3056"/>
          </a:solidFill>
          <a:ln w="25400">
            <a:solidFill>
              <a:srgbClr val="40456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926080"/>
            <a:ext cx="9464040" cy="548640"/>
          </a:xfrm>
          <a:prstGeom prst="rect">
            <a:avLst/>
          </a:prstGeom>
          <a:noFill/>
        </p:spPr>
        <p:txBody>
          <a:bodyPr wrap="square" lIns="9144" rIns="9144" tIns="9144" bIns="9144">
            <a:spAutoFit/>
          </a:bodyPr>
          <a:lstStyle/>
          <a:p>
            <a:pPr algn="ctr"/>
            <a:r>
              <a:rPr sz="2600" b="1">
                <a:solidFill>
                  <a:srgbClr val="F8ED43"/>
                </a:solidFill>
                <a:latin typeface="Saira Semi Condensed ExtraBold"/>
              </a:rPr>
              <a:t>[ TEMPAT SCREENSHOT DASHBOARD SCADA GIS ]</a:t>
            </a:r>
          </a:p>
        </p:txBody>
      </p:sp>
      <p:sp>
        <p:nvSpPr>
          <p:cNvPr id="8" name="TextBox 7"/>
          <p:cNvSpPr txBox="1"/>
          <p:nvPr/>
        </p:nvSpPr>
        <p:spPr>
          <a:xfrm>
            <a:off x="1371600" y="3520440"/>
            <a:ext cx="9464040" cy="365760"/>
          </a:xfrm>
          <a:prstGeom prst="rect">
            <a:avLst/>
          </a:prstGeom>
          <a:noFill/>
        </p:spPr>
        <p:txBody>
          <a:bodyPr wrap="square" lIns="9144" rIns="9144" tIns="9144" bIns="9144">
            <a:spAutoFit/>
          </a:bodyPr>
          <a:lstStyle/>
          <a:p>
            <a:pPr algn="ctr"/>
            <a:r>
              <a:rPr sz="1400" b="0">
                <a:solidFill>
                  <a:srgbClr val="94A3B8"/>
                </a:solidFill>
                <a:latin typeface="Barlow"/>
              </a:rPr>
              <a:t>Silakan masukkan screenshot peta GIS, feed event rekomendasi, dan status 3 sensor di area ini</a:t>
            </a:r>
          </a:p>
        </p:txBody>
      </p:sp>
      <p:sp>
        <p:nvSpPr>
          <p:cNvPr id="9" name="Rounded Rectangle 8"/>
          <p:cNvSpPr/>
          <p:nvPr/>
        </p:nvSpPr>
        <p:spPr>
          <a:xfrm>
            <a:off x="914400" y="5806440"/>
            <a:ext cx="3108960" cy="41148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38BDF8"/>
                </a:solidFill>
                <a:latin typeface="Fragment Mono"/>
              </a:rPr>
              <a:t>●  PETA GIS TITIK GARDU INTERAKTIF</a:t>
            </a:r>
          </a:p>
        </p:txBody>
      </p:sp>
      <p:sp>
        <p:nvSpPr>
          <p:cNvPr id="10" name="Rounded Rectangle 9"/>
          <p:cNvSpPr/>
          <p:nvPr/>
        </p:nvSpPr>
        <p:spPr>
          <a:xfrm>
            <a:off x="4526280" y="5806440"/>
            <a:ext cx="3108960" cy="41148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8ED43"/>
                </a:solidFill>
                <a:latin typeface="Fragment Mono"/>
              </a:rPr>
              <a:t>●  POPUP REKOMENDASI TINDAKAN OTOMATIS</a:t>
            </a:r>
          </a:p>
        </p:txBody>
      </p:sp>
      <p:sp>
        <p:nvSpPr>
          <p:cNvPr id="11" name="Rounded Rectangle 10"/>
          <p:cNvSpPr/>
          <p:nvPr/>
        </p:nvSpPr>
        <p:spPr>
          <a:xfrm>
            <a:off x="8138160" y="5806440"/>
            <a:ext cx="3108960" cy="41148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22C55E"/>
                </a:solidFill>
                <a:latin typeface="Fragment Mono"/>
              </a:rPr>
              <a:t>●  STATUS KUALITAS FISIK TRAFO REAL-TIME</a:t>
            </a:r>
          </a:p>
        </p:txBody>
      </p:sp>
    </p:spTree>
  </p:cSld>
  <p:clrMapOvr>
    <a:masterClrMapping/>
  </p:clrMapOvr>
  <p:transition spd="med" advClick="1">
    <p:fade thruBlk="0"/>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ounded Rectangle 1"/>
          <p:cNvSpPr/>
          <p:nvPr/>
        </p:nvSpPr>
        <p:spPr>
          <a:xfrm>
            <a:off x="548640" y="320040"/>
            <a:ext cx="402336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00" b="1">
                <a:solidFill>
                  <a:srgbClr val="38BDF8"/>
                </a:solidFill>
                <a:latin typeface="Fragment Mono"/>
              </a:rPr>
              <a:t>●  EKSEKUSI &amp; HILIRISASI</a:t>
            </a:r>
          </a:p>
        </p:txBody>
      </p:sp>
      <p:sp>
        <p:nvSpPr>
          <p:cNvPr id="3" name="Rounded Rectangle 2"/>
          <p:cNvSpPr/>
          <p:nvPr/>
        </p:nvSpPr>
        <p:spPr>
          <a:xfrm>
            <a:off x="10241280" y="320040"/>
            <a:ext cx="1417320" cy="329184"/>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4A3B8"/>
                </a:solidFill>
                <a:latin typeface="Fragment Mono"/>
              </a:rPr>
              <a:t>07 / 07</a:t>
            </a:r>
          </a:p>
        </p:txBody>
      </p:sp>
      <p:sp>
        <p:nvSpPr>
          <p:cNvPr id="4" name="TextBox 3"/>
          <p:cNvSpPr txBox="1"/>
          <p:nvPr/>
        </p:nvSpPr>
        <p:spPr>
          <a:xfrm>
            <a:off x="548640" y="658368"/>
            <a:ext cx="11109960" cy="548640"/>
          </a:xfrm>
          <a:prstGeom prst="rect">
            <a:avLst/>
          </a:prstGeom>
          <a:noFill/>
        </p:spPr>
        <p:txBody>
          <a:bodyPr wrap="square">
            <a:spAutoFit/>
          </a:bodyPr>
          <a:lstStyle/>
          <a:p>
            <a:r>
              <a:rPr sz="2800" b="1">
                <a:solidFill>
                  <a:srgbClr val="FFFFFF"/>
                </a:solidFill>
                <a:latin typeface="Saira Semi Condensed ExtraBold"/>
              </a:rPr>
              <a:t>Roadmap 12 Bulan Menuju Uji Lapangan PLN &amp; Tim Pengembang</a:t>
            </a:r>
          </a:p>
        </p:txBody>
      </p:sp>
      <p:sp>
        <p:nvSpPr>
          <p:cNvPr id="5" name="Rounded Rectangle 4"/>
          <p:cNvSpPr/>
          <p:nvPr/>
        </p:nvSpPr>
        <p:spPr>
          <a:xfrm>
            <a:off x="548640" y="1417320"/>
            <a:ext cx="6583680" cy="4983480"/>
          </a:xfrm>
          <a:prstGeom prst="roundRect">
            <a:avLst>
              <a:gd name="adj" fmla="val 6000"/>
            </a:avLst>
          </a:prstGeom>
          <a:solidFill>
            <a:srgbClr val="14233F"/>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384048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r>
              <a:rPr sz="1050" b="1">
                <a:solidFill>
                  <a:srgbClr val="38BDF8"/>
                </a:solidFill>
                <a:latin typeface="Fragment Mono"/>
              </a:rPr>
              <a:t>●  ROADMAP PENGEMBANGAN SISTEM (12 BULAN)</a:t>
            </a:r>
          </a:p>
        </p:txBody>
      </p:sp>
      <p:sp>
        <p:nvSpPr>
          <p:cNvPr id="7" name="Rounded Rectangle 6"/>
          <p:cNvSpPr/>
          <p:nvPr/>
        </p:nvSpPr>
        <p:spPr>
          <a:xfrm>
            <a:off x="777240" y="2103120"/>
            <a:ext cx="6126480" cy="77724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2240279"/>
            <a:ext cx="105156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8ED43"/>
                </a:solidFill>
                <a:latin typeface="Fragment Mono"/>
              </a:rPr>
              <a:t>Bulan 1–2</a:t>
            </a:r>
          </a:p>
        </p:txBody>
      </p:sp>
      <p:sp>
        <p:nvSpPr>
          <p:cNvPr id="9" name="TextBox 8"/>
          <p:cNvSpPr txBox="1"/>
          <p:nvPr/>
        </p:nvSpPr>
        <p:spPr>
          <a:xfrm>
            <a:off x="2103120" y="2212848"/>
            <a:ext cx="466344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TKT 4 Demo Day Hackathon</a:t>
            </a:r>
          </a:p>
        </p:txBody>
      </p:sp>
      <p:sp>
        <p:nvSpPr>
          <p:cNvPr id="10" name="TextBox 9"/>
          <p:cNvSpPr txBox="1"/>
          <p:nvPr/>
        </p:nvSpPr>
        <p:spPr>
          <a:xfrm>
            <a:off x="914400" y="2542032"/>
            <a:ext cx="5852160" cy="292608"/>
          </a:xfrm>
          <a:prstGeom prst="rect">
            <a:avLst/>
          </a:prstGeom>
          <a:noFill/>
        </p:spPr>
        <p:txBody>
          <a:bodyPr wrap="square" lIns="9144" rIns="9144" tIns="9144" bIns="9144">
            <a:spAutoFit/>
          </a:bodyPr>
          <a:lstStyle/>
          <a:p>
            <a:pPr algn="l"/>
            <a:r>
              <a:rPr sz="1100" b="0">
                <a:solidFill>
                  <a:srgbClr val="94A3B8"/>
                </a:solidFill>
                <a:latin typeface="Barlow"/>
              </a:rPr>
              <a:t>Validasi fusi 3 sensor fisik dan integrasi portal Web GIS.</a:t>
            </a:r>
          </a:p>
        </p:txBody>
      </p:sp>
      <p:sp>
        <p:nvSpPr>
          <p:cNvPr id="11" name="Rounded Rectangle 10"/>
          <p:cNvSpPr/>
          <p:nvPr/>
        </p:nvSpPr>
        <p:spPr>
          <a:xfrm>
            <a:off x="777240" y="2999232"/>
            <a:ext cx="6126480" cy="77724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 y="3136391"/>
            <a:ext cx="105156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8ED43"/>
                </a:solidFill>
                <a:latin typeface="Fragment Mono"/>
              </a:rPr>
              <a:t>Bulan 3–4</a:t>
            </a:r>
          </a:p>
        </p:txBody>
      </p:sp>
      <p:sp>
        <p:nvSpPr>
          <p:cNvPr id="13" name="TextBox 12"/>
          <p:cNvSpPr txBox="1"/>
          <p:nvPr/>
        </p:nvSpPr>
        <p:spPr>
          <a:xfrm>
            <a:off x="2103120" y="3108960"/>
            <a:ext cx="466344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TKT 5 Kalibrasi Model Cerdas</a:t>
            </a:r>
          </a:p>
        </p:txBody>
      </p:sp>
      <p:sp>
        <p:nvSpPr>
          <p:cNvPr id="14" name="TextBox 13"/>
          <p:cNvSpPr txBox="1"/>
          <p:nvPr/>
        </p:nvSpPr>
        <p:spPr>
          <a:xfrm>
            <a:off x="914400" y="3438144"/>
            <a:ext cx="5852160" cy="292608"/>
          </a:xfrm>
          <a:prstGeom prst="rect">
            <a:avLst/>
          </a:prstGeom>
          <a:noFill/>
        </p:spPr>
        <p:txBody>
          <a:bodyPr wrap="square" lIns="9144" rIns="9144" tIns="9144" bIns="9144">
            <a:spAutoFit/>
          </a:bodyPr>
          <a:lstStyle/>
          <a:p>
            <a:pPr algn="l"/>
            <a:r>
              <a:rPr sz="1100" b="0">
                <a:solidFill>
                  <a:srgbClr val="94A3B8"/>
                </a:solidFill>
                <a:latin typeface="Barlow"/>
              </a:rPr>
              <a:t>Pelatihan dataset gas &amp; getaran pada kondisi beban trafo dinamis.</a:t>
            </a:r>
          </a:p>
        </p:txBody>
      </p:sp>
      <p:sp>
        <p:nvSpPr>
          <p:cNvPr id="15" name="Rounded Rectangle 14"/>
          <p:cNvSpPr/>
          <p:nvPr/>
        </p:nvSpPr>
        <p:spPr>
          <a:xfrm>
            <a:off x="777240" y="3895344"/>
            <a:ext cx="6126480" cy="77724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4032504"/>
            <a:ext cx="105156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8ED43"/>
                </a:solidFill>
                <a:latin typeface="Fragment Mono"/>
              </a:rPr>
              <a:t>Bulan 5–10</a:t>
            </a:r>
          </a:p>
        </p:txBody>
      </p:sp>
      <p:sp>
        <p:nvSpPr>
          <p:cNvPr id="17" name="TextBox 16"/>
          <p:cNvSpPr txBox="1"/>
          <p:nvPr/>
        </p:nvSpPr>
        <p:spPr>
          <a:xfrm>
            <a:off x="2103120" y="4005072"/>
            <a:ext cx="466344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TKT 5–6 Sandbox 10 Gardu PLN</a:t>
            </a:r>
          </a:p>
        </p:txBody>
      </p:sp>
      <p:sp>
        <p:nvSpPr>
          <p:cNvPr id="18" name="TextBox 17"/>
          <p:cNvSpPr txBox="1"/>
          <p:nvPr/>
        </p:nvSpPr>
        <p:spPr>
          <a:xfrm>
            <a:off x="914400" y="4334256"/>
            <a:ext cx="5852160" cy="292608"/>
          </a:xfrm>
          <a:prstGeom prst="rect">
            <a:avLst/>
          </a:prstGeom>
          <a:noFill/>
        </p:spPr>
        <p:txBody>
          <a:bodyPr wrap="square" lIns="9144" rIns="9144" tIns="9144" bIns="9144">
            <a:spAutoFit/>
          </a:bodyPr>
          <a:lstStyle/>
          <a:p>
            <a:pPr algn="l"/>
            <a:r>
              <a:rPr sz="1100" b="0">
                <a:solidFill>
                  <a:srgbClr val="94A3B8"/>
                </a:solidFill>
                <a:latin typeface="Barlow"/>
              </a:rPr>
              <a:t>Uji coba lapangan (field trial) notifikasi GIS pada 10 gardu distribusi PLN.</a:t>
            </a:r>
          </a:p>
        </p:txBody>
      </p:sp>
      <p:sp>
        <p:nvSpPr>
          <p:cNvPr id="19" name="Rounded Rectangle 18"/>
          <p:cNvSpPr/>
          <p:nvPr/>
        </p:nvSpPr>
        <p:spPr>
          <a:xfrm>
            <a:off x="777240" y="4791456"/>
            <a:ext cx="6126480" cy="77724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4400" y="4928616"/>
            <a:ext cx="1051560" cy="256032"/>
          </a:xfrm>
          <a:prstGeom prst="roundRect">
            <a:avLst>
              <a:gd name="adj" fmla="val 20000"/>
            </a:avLst>
          </a:prstGeom>
          <a:solidFill>
            <a:srgbClr val="14233F"/>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950" b="1">
                <a:solidFill>
                  <a:srgbClr val="F8ED43"/>
                </a:solidFill>
                <a:latin typeface="Fragment Mono"/>
              </a:rPr>
              <a:t>Bulan 11–12</a:t>
            </a:r>
          </a:p>
        </p:txBody>
      </p:sp>
      <p:sp>
        <p:nvSpPr>
          <p:cNvPr id="21" name="TextBox 20"/>
          <p:cNvSpPr txBox="1"/>
          <p:nvPr/>
        </p:nvSpPr>
        <p:spPr>
          <a:xfrm>
            <a:off x="2103120" y="4901184"/>
            <a:ext cx="4663440" cy="292608"/>
          </a:xfrm>
          <a:prstGeom prst="rect">
            <a:avLst/>
          </a:prstGeom>
          <a:noFill/>
        </p:spPr>
        <p:txBody>
          <a:bodyPr wrap="square" lIns="9144" rIns="9144" tIns="9144" bIns="9144">
            <a:spAutoFit/>
          </a:bodyPr>
          <a:lstStyle/>
          <a:p>
            <a:pPr algn="l"/>
            <a:r>
              <a:rPr sz="1400" b="1">
                <a:solidFill>
                  <a:srgbClr val="FFFFFF"/>
                </a:solidFill>
                <a:latin typeface="Saira Semi Condensed ExtraBold"/>
              </a:rPr>
              <a:t>TKT 6 Integrasi SCADA &amp; HKI</a:t>
            </a:r>
          </a:p>
        </p:txBody>
      </p:sp>
      <p:sp>
        <p:nvSpPr>
          <p:cNvPr id="22" name="TextBox 21"/>
          <p:cNvSpPr txBox="1"/>
          <p:nvPr/>
        </p:nvSpPr>
        <p:spPr>
          <a:xfrm>
            <a:off x="914400" y="5230368"/>
            <a:ext cx="5852160" cy="292608"/>
          </a:xfrm>
          <a:prstGeom prst="rect">
            <a:avLst/>
          </a:prstGeom>
          <a:noFill/>
        </p:spPr>
        <p:txBody>
          <a:bodyPr wrap="square" lIns="9144" rIns="9144" tIns="9144" bIns="9144">
            <a:spAutoFit/>
          </a:bodyPr>
          <a:lstStyle/>
          <a:p>
            <a:pPr algn="l"/>
            <a:r>
              <a:rPr sz="1100" b="0">
                <a:solidFill>
                  <a:srgbClr val="94A3B8"/>
                </a:solidFill>
                <a:latin typeface="Barlow"/>
              </a:rPr>
              <a:t>Integrasi API GIS ke sistem dispatcher PLN serta pendaftaran Paten &amp; Hak Cipta.</a:t>
            </a:r>
          </a:p>
        </p:txBody>
      </p:sp>
      <p:sp>
        <p:nvSpPr>
          <p:cNvPr id="23" name="Rounded Rectangle 22"/>
          <p:cNvSpPr/>
          <p:nvPr/>
        </p:nvSpPr>
        <p:spPr>
          <a:xfrm>
            <a:off x="777240" y="5806440"/>
            <a:ext cx="6126480" cy="384048"/>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00" b="1">
                <a:solidFill>
                  <a:srgbClr val="F8ED43"/>
                </a:solidFill>
                <a:latin typeface="Fragment Mono"/>
              </a:rPr>
              <a:t>●  THE ASK: AKSES SANDBOX 10 GARDU PLN &amp; DATA GANGGUAN TRAFO RIIL</a:t>
            </a:r>
          </a:p>
        </p:txBody>
      </p:sp>
      <p:sp>
        <p:nvSpPr>
          <p:cNvPr id="24" name="Rounded Rectangle 23"/>
          <p:cNvSpPr/>
          <p:nvPr/>
        </p:nvSpPr>
        <p:spPr>
          <a:xfrm>
            <a:off x="7360920" y="1417320"/>
            <a:ext cx="4297680" cy="4983480"/>
          </a:xfrm>
          <a:prstGeom prst="roundRect">
            <a:avLst>
              <a:gd name="adj" fmla="val 6000"/>
            </a:avLst>
          </a:prstGeom>
          <a:solidFill>
            <a:srgbClr val="14233F"/>
          </a:solidFill>
          <a:ln w="15240">
            <a:solidFill>
              <a:srgbClr val="F8ED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89520" y="1645920"/>
            <a:ext cx="3840480" cy="320040"/>
          </a:xfrm>
          <a:prstGeom prst="roundRect">
            <a:avLst>
              <a:gd name="adj" fmla="val 20000"/>
            </a:avLst>
          </a:prstGeom>
          <a:solidFill>
            <a:srgbClr val="1C3056"/>
          </a:solidFill>
          <a:ln w="1270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50" b="1">
                <a:solidFill>
                  <a:srgbClr val="F8ED43"/>
                </a:solidFill>
                <a:latin typeface="Fragment Mono"/>
              </a:rPr>
              <a:t>●  AKSES SLIDE &amp; MATERI PITCH DECK</a:t>
            </a:r>
          </a:p>
        </p:txBody>
      </p:sp>
      <p:pic>
        <p:nvPicPr>
          <p:cNvPr id="26" name="Picture 25" descr="qr_code.png"/>
          <p:cNvPicPr>
            <a:picLocks noChangeAspect="1"/>
          </p:cNvPicPr>
          <p:nvPr/>
        </p:nvPicPr>
        <p:blipFill>
          <a:blip r:embed="rId3"/>
          <a:stretch>
            <a:fillRect/>
          </a:stretch>
        </p:blipFill>
        <p:spPr>
          <a:xfrm>
            <a:off x="8458200" y="2103120"/>
            <a:ext cx="2103120" cy="2103120"/>
          </a:xfrm>
          <a:prstGeom prst="rect">
            <a:avLst/>
          </a:prstGeom>
        </p:spPr>
      </p:pic>
      <p:sp>
        <p:nvSpPr>
          <p:cNvPr id="27" name="TextBox 26"/>
          <p:cNvSpPr txBox="1"/>
          <p:nvPr/>
        </p:nvSpPr>
        <p:spPr>
          <a:xfrm>
            <a:off x="7589520" y="4297680"/>
            <a:ext cx="3840480" cy="320040"/>
          </a:xfrm>
          <a:prstGeom prst="rect">
            <a:avLst/>
          </a:prstGeom>
          <a:noFill/>
        </p:spPr>
        <p:txBody>
          <a:bodyPr wrap="square" lIns="9144" rIns="9144" tIns="9144" bIns="9144">
            <a:spAutoFit/>
          </a:bodyPr>
          <a:lstStyle/>
          <a:p>
            <a:pPr algn="ctr"/>
            <a:r>
              <a:rPr sz="1400" b="1">
                <a:solidFill>
                  <a:srgbClr val="38BDF8"/>
                </a:solidFill>
                <a:latin typeface="Fragment Mono"/>
              </a:rPr>
              <a:t>https://goitb.id/demo-HDSX</a:t>
            </a:r>
          </a:p>
        </p:txBody>
      </p:sp>
      <p:sp>
        <p:nvSpPr>
          <p:cNvPr id="28" name="TextBox 27"/>
          <p:cNvSpPr txBox="1"/>
          <p:nvPr/>
        </p:nvSpPr>
        <p:spPr>
          <a:xfrm>
            <a:off x="7589520" y="4617720"/>
            <a:ext cx="3840480" cy="274320"/>
          </a:xfrm>
          <a:prstGeom prst="rect">
            <a:avLst/>
          </a:prstGeom>
          <a:noFill/>
        </p:spPr>
        <p:txBody>
          <a:bodyPr wrap="square" lIns="9144" rIns="9144" tIns="9144" bIns="9144">
            <a:spAutoFit/>
          </a:bodyPr>
          <a:lstStyle/>
          <a:p>
            <a:pPr algn="ctr"/>
            <a:r>
              <a:rPr sz="1100" b="0">
                <a:solidFill>
                  <a:srgbClr val="94A3B8"/>
                </a:solidFill>
                <a:latin typeface="Barlow"/>
              </a:rPr>
              <a:t>Scan QR untuk mengunduh salinan pitch deck</a:t>
            </a:r>
          </a:p>
        </p:txBody>
      </p:sp>
      <p:sp>
        <p:nvSpPr>
          <p:cNvPr id="29" name="Rounded Rectangle 28"/>
          <p:cNvSpPr/>
          <p:nvPr/>
        </p:nvSpPr>
        <p:spPr>
          <a:xfrm>
            <a:off x="7589520" y="5029200"/>
            <a:ext cx="3840480" cy="1143000"/>
          </a:xfrm>
          <a:prstGeom prst="roundRect">
            <a:avLst>
              <a:gd name="adj" fmla="val 8000"/>
            </a:avLst>
          </a:prstGeom>
          <a:solidFill>
            <a:srgbClr val="1C3056"/>
          </a:solidFill>
          <a:ln w="15240">
            <a:solidFill>
              <a:srgbClr val="4045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5102352"/>
            <a:ext cx="3566160" cy="256032"/>
          </a:xfrm>
          <a:prstGeom prst="rect">
            <a:avLst/>
          </a:prstGeom>
          <a:noFill/>
        </p:spPr>
        <p:txBody>
          <a:bodyPr wrap="square" lIns="9144" rIns="9144" tIns="9144" bIns="9144">
            <a:spAutoFit/>
          </a:bodyPr>
          <a:lstStyle/>
          <a:p>
            <a:pPr algn="l"/>
            <a:r>
              <a:rPr sz="1100" b="1">
                <a:solidFill>
                  <a:srgbClr val="F8ED43"/>
                </a:solidFill>
                <a:latin typeface="Fragment Mono"/>
              </a:rPr>
              <a:t>TIM PENGEMBANG (USM):</a:t>
            </a:r>
          </a:p>
        </p:txBody>
      </p:sp>
      <p:sp>
        <p:nvSpPr>
          <p:cNvPr id="31" name="TextBox 30"/>
          <p:cNvSpPr txBox="1"/>
          <p:nvPr/>
        </p:nvSpPr>
        <p:spPr>
          <a:xfrm>
            <a:off x="7726679" y="5376672"/>
            <a:ext cx="3566160" cy="685800"/>
          </a:xfrm>
          <a:prstGeom prst="rect">
            <a:avLst/>
          </a:prstGeom>
          <a:noFill/>
        </p:spPr>
        <p:txBody>
          <a:bodyPr wrap="square" lIns="9144" rIns="9144" tIns="9144" bIns="9144">
            <a:spAutoFit/>
          </a:bodyPr>
          <a:lstStyle/>
          <a:p>
            <a:pPr algn="l"/>
            <a:r>
              <a:rPr sz="1150" b="0">
                <a:solidFill>
                  <a:srgbClr val="FFFFFF"/>
                </a:solidFill>
                <a:latin typeface="Barlow"/>
              </a:rPr>
              <a:t>Benedicto (L3 HW) • Daniyal (L2 TinyML)
Bagus (L1 SCADA) • Dr. Aria Hendrawan (Advisor)</a:t>
            </a:r>
          </a:p>
        </p:txBody>
      </p:sp>
    </p:spTree>
  </p:cSld>
  <p:clrMapOvr>
    <a:masterClrMapping/>
  </p:clrMapOvr>
  <p:transition spd="med" advClick="1">
    <p:fade thruBlk="0"/>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2026-10-18T07:38:33Z</dcterms:created>
  <dcterms:modified xsi:type="dcterms:W3CDTF">2026-10-18T07:38:33Z</dcterms:modified>
</cp:coreProperties>
</file>