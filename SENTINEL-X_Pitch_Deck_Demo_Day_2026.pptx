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5196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— SLIDE 1 (COVER):</a:t>
            </a:r>
          </a:p>
          <a:p>
            <a:r>
              <a:t>Selamat pagi/siang Dewan Juri dan Mitra Industri (PLN Puslitbang, DEFEND ID, dan PT Indismart). Kami dari tim SENTINEL-X mempersembahkan 4-in-1 Smart Edge Node untuk proteksi otonom gardu distribusi PLN.</a:t>
            </a:r>
          </a:p>
          <a:p>
            <a:r>
              <a:t>Sistem kami menyatukan Layer 3 (True-RMS, Hardware Interrupt Wake-Up, dan RTL Verilog PAU), Layer 2 (1D Micro-MobileNetV2 INT8 dengan latensi &lt; 45 mikrodetik), dan Layer 1 (Web SCADA GIS real-time).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— SLIDE 2 (MASALAH):</a:t>
            </a:r>
          </a:p>
          <a:p>
            <a:r>
              <a:t>1. Berdasarkan Buku Statistik Ketenagalistrikan ESDM 2024 &amp; Statistik PLN 2024, terdapat lebih dari 500.000 gardu distribusi (kapasitas 69.084 MVA). Saat ini meter energi, sensor suhu/gas, dan alarm pintu masih terpisah di 3-4 perangkat berbeda.</a:t>
            </a:r>
          </a:p>
          <a:p>
            <a:r>
              <a:t>2. Susut jaringan PLN tahun 2024 mencapai 8,55% (~Rp 35 Triliun/tahun, atau Rp 4,2 Triliun per 1% susut). Pencurian kabel grounding dan overload memicu ledakan trafo senilai Rp 150-180 juta per unit.</a:t>
            </a:r>
          </a:p>
          <a:p>
            <a:r>
              <a:t>3. Mengirim data mentah tiap 200ms ke cloud memboroskan 1,04 GB/bulan per gardu dengan latensi &gt;500ms, sementara Permen ESDM 11/2024 mewajibkan TKDN &gt;40%.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— SLIDE 3 (VALIDASI MITRA):</a:t>
            </a:r>
          </a:p>
          <a:p>
            <a:r>
              <a:t>Desain SENTINEL-X divalidasi langsung terhadap kebutuhan mitra:</a:t>
            </a:r>
          </a:p>
          <a:p>
            <a:r>
              <a:t>1. PLN Puslitbang: Integrasi sensor ke 1 node + auto-trip relay bay proteksi + kepatuhan SPLN D3.022 &amp; IEC 60870-5-104.</a:t>
            </a:r>
          </a:p>
          <a:p>
            <a:r>
              <a:t>2. PT Indismart: Desain menuju PCB 4-layer berpelindung EMC dan perakitan SMT dalam negeri (TKDN &gt; 40%).</a:t>
            </a:r>
          </a:p>
          <a:p>
            <a:r>
              <a:t>3. DEFEND ID (PT Len &amp; PT Hariff): Deteksi putus kawat perimeter &lt; 5 mikrodetik via hardware interrupt dan daya hanya 1,18 Watt.</a:t>
            </a:r>
          </a:p>
          <a:p>
            <a:r>
              <a:t>4. Coaching Clinic 17 Okt: Keputusan trip wajib 100% otonom di L2/L3 dengan ekstraksi spektral Goertzel 48 Hz.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— SLIDE 4 (ARSITEKTUR 3 LAPIS &amp; 4 KPI):</a:t>
            </a:r>
          </a:p>
          <a:p>
            <a:r>
              <a:t>- Daya aktif terukur hanya 1,18 Watt (tahan &gt; 18 jam dengan baterai cadangan LiFePO4).</a:t>
            </a:r>
          </a:p>
          <a:p>
            <a:r>
              <a:t>- Latensi inferensi INT8 &lt; 45 mikrodetik, hemat trafik MQTT 90%, dan akurasi klasifikasi &gt;= 92%.</a:t>
            </a:r>
          </a:p>
          <a:p>
            <a:r>
              <a:t>- Layer 1 menampilkan peta GIS &amp; skor kesehatan; Layer 2 menjalankan 1D Micro-MobileNetV2 INT8; Layer 3 mengakuisisi True-RMS, interrupt pintu GPIO 14, serta desain IP Core RTL Verilog PAU.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— SLIDE 5 (PIPELINE CPS 27,2 MS):</a:t>
            </a:r>
          </a:p>
          <a:p>
            <a:r>
              <a:t>Total waktu dari timbulnya anomali fisik hingga kontaktor relay memutus arus hanya 27,24 milidetik:</a:t>
            </a:r>
          </a:p>
          <a:p>
            <a:r>
              <a:t>- Stage 1 (L3): 19,2 ms untuk pencuplikan 32 titik gelombang arus True-RMS dan ekstraksi Goertzel 48 Hz.</a:t>
            </a:r>
          </a:p>
          <a:p>
            <a:r>
              <a:t>- Stage 2 (L2): 0,038 ms (38 mikrodetik) untuk inferensi jaringan saraf 1D Micro-MobileNetV2 INT8.</a:t>
            </a:r>
          </a:p>
          <a:p>
            <a:r>
              <a:t>- Stage 3 (L3/L1): 8,0 ms untuk aktuasi mekanik relay proteksi 12V dan pengiriman paket MQTT darurat.</a:t>
            </a:r>
          </a:p>
          <a:p>
            <a:r>
              <a:t>Dibandingkan sistem Cloud IoT (&gt; 500 ms), SENTINEL-X 18 kali lebih cepat dan tetap memutus arus meski sinyal seluler mati.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— SLIDE 6 (EDGE AI L2 &amp; DSP):</a:t>
            </a:r>
          </a:p>
          <a:p>
            <a:r>
              <a:t>- Di sisi kiri adalah arsitektur 1D Micro-MobileNetV2 INT8 yang telah diimplementasikan di TinyML_V2.ino: 4 kanal sensor diekspansi ke 8 kanal (Pointwise 1x1 + ReLU6), difilter secara temporal dengan 3-Tap Depthwise 1D, lalu diproyeksikan dengan Residual Shortcut menghasilkan 4 skor risiko (0-100%).</a:t>
            </a:r>
          </a:p>
          <a:p>
            <a:r>
              <a:t>- Di kanan atas: pencuplikan cepat True-RMS 32 sampel mengeliminasi fluktuasi semu gelombang AC.</a:t>
            </a:r>
          </a:p>
          <a:p>
            <a:r>
              <a:t>- Di kanan bawah: transformasi Goertzel fixed-point mendeteksi puncak getaran magnetostriksi 48 Hz pada inti trafo.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— SLIDE 7 (EFISIENSI BANDWIDTH -90%):</a:t>
            </a:r>
          </a:p>
          <a:p>
            <a:r>
              <a:t>Kombinasi Hardware Interrupt (GPIO 14) dan Digital Window Comparator menahan 9 dari 10 paket MQTT saat kondisi gardu stabil:</a:t>
            </a:r>
          </a:p>
          <a:p>
            <a:r>
              <a:t>- Saat normal: hanya mengirim 1 paket Heartbeat tiap 5 detik (menjaga status dashboard Web SCADA tetap ONLINE di bawah batas timeout 10 detik).</a:t>
            </a:r>
          </a:p>
          <a:p>
            <a:r>
              <a:t>- Saat ada perubahan arus &gt; 0,15 A, getaran &gt; 0,08 g, atau pintu dibuka: otomatis beralih ke Burst Mode 500 ms.</a:t>
            </a:r>
          </a:p>
          <a:p>
            <a:r>
              <a:t>- Hasilnya: penghematan trafik 90% (dari 1,04 GB menjadi 104 MB/gardu/bulan).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— SLIDE 8 (LIVE DEMO &amp; BENCHMARK):</a:t>
            </a:r>
          </a:p>
          <a:p>
            <a:r>
              <a:t>Prototipe kami siap didemokan secara langsung dalam 4 skenario:</a:t>
            </a:r>
          </a:p>
          <a:p>
            <a:r>
              <a:t>1. Kondisi Normal: Skor 92%, OLED menampilkan arus RMS, MQTT mengirim heartbeat tiap 5 detik.</a:t>
            </a:r>
          </a:p>
          <a:p>
            <a:r>
              <a:t>2. Getaran 48 Hz &amp; Gas: Spektrum Goertzel mendeteksi getaran mekanis dan MQ-2 mendeteksi gas, memicu Burst Mode.</a:t>
            </a:r>
          </a:p>
          <a:p>
            <a:r>
              <a:t>3. Sabotase Pintu: Interrupt GPIO 14 memicu inferensi &lt; 45 mikrodetik.</a:t>
            </a:r>
          </a:p>
          <a:p>
            <a:r>
              <a:t>4. Auto-Trip: Ketika skor risiko &gt; 80%, relay memutus beban dalam &lt; 27,2 ms secara otonom.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— SLIDE 9 (UNIT ECONOMICS &amp; PASAR):</a:t>
            </a:r>
          </a:p>
          <a:p>
            <a:r>
              <a:t>- Kami memisahkan secara transparan BoM Prototipe Lab TKT 4 (Rp 1,15 juta) dan HPP Versi Industri TKT 6 (Rp 2,45 juta, harga jual Rp 3,85 - 5,20 juta/unit termasuk enklosur IP65, surge arrester 4kV, CT clamp, dan modem 4G).</a:t>
            </a:r>
          </a:p>
          <a:p>
            <a:r>
              <a:t>- Harga ini masih 85% lebih hemat dibandingkan RTU + IED impor (Rp 35 - 80 juta/gardu).</a:t>
            </a:r>
          </a:p>
          <a:p>
            <a:r>
              <a:t>- TAM: 500.000 gardu = Rp 2,25 Triliun; SAM: 75.000 gardu kritis (15%) = Rp 337,5 Miliar; SOM Tahun 1-2: 2.000 unit pilot bersama mitra = Rp 9,0 Miliar.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— SLIDE 10 (ROADMAP 12 BULAN &amp; ASK):</a:t>
            </a:r>
          </a:p>
          <a:p>
            <a:r>
              <a:t>- Bulan 1-2 (TKT 4): Validasi prototipe fungsional TinyML INT8 &amp; Web SCADA di Demo Day.</a:t>
            </a:r>
          </a:p>
          <a:p>
            <a:r>
              <a:t>- Bulan 3-4 (TKT 5): Migrasi dari modul dev-board ke custom PCB 4-layer industrial dengan proteksi surja 4 kV.</a:t>
            </a:r>
          </a:p>
          <a:p>
            <a:r>
              <a:t>- Bulan 5-10 (TKT 5-6): Uji lapangan (field trial) pada 10 gardu distribusi bersama PLN Puslitbang &amp; uji pra-sertifikasi SPLN D3.022.</a:t>
            </a:r>
          </a:p>
          <a:p>
            <a:r>
              <a:t>- Bulan 11-12 (TKT 6): Pendaftaran Paten Sederhana, Hak Cipta Firmware, DTLST untuk RTL Verilog PAU, dan sertifikasi TKDN &gt; 40%.</a:t>
            </a:r>
          </a:p>
          <a:p>
            <a:r>
              <a:t>Terima kasih. Kami siap mendemonstrasikan prototipe SENTINEL-X secara langsung!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4360" y="502920"/>
            <a:ext cx="3749039" cy="347472"/>
          </a:xfrm>
          <a:prstGeom prst="roundRect">
            <a:avLst>
              <a:gd name="adj" fmla="val 18000"/>
            </a:avLst>
          </a:prstGeom>
          <a:solidFill>
            <a:srgbClr val="EFF4FF"/>
          </a:solidFill>
          <a:ln w="12700">
            <a:solidFill>
              <a:srgbClr val="15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l"/>
            <a:r>
              <a:rPr sz="1100" b="1">
                <a:solidFill>
                  <a:srgbClr val="15345B"/>
                </a:solidFill>
                <a:latin typeface="Inter"/>
              </a:rPr>
              <a:t>●  TRACK 04  •  AIOT SMART-X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5669280" cy="9601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6000" b="1">
                <a:solidFill>
                  <a:srgbClr val="15345B"/>
                </a:solidFill>
                <a:latin typeface="Inter"/>
              </a:rPr>
              <a:t>SENTINEL-X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65960"/>
            <a:ext cx="566928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400" b="1">
                <a:solidFill>
                  <a:srgbClr val="006972"/>
                </a:solidFill>
                <a:latin typeface="Inter"/>
              </a:rPr>
              <a:t>4-in-1 Smart Edge Node Gardu PLN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97480"/>
            <a:ext cx="1737360" cy="420624"/>
          </a:xfrm>
          <a:prstGeom prst="roundRect">
            <a:avLst>
              <a:gd name="adj" fmla="val 18000"/>
            </a:avLst>
          </a:prstGeom>
          <a:solidFill>
            <a:srgbClr val="E0F8FB"/>
          </a:solidFill>
          <a:ln w="12700">
            <a:solidFill>
              <a:srgbClr val="006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200" b="1">
                <a:solidFill>
                  <a:srgbClr val="006972"/>
                </a:solidFill>
                <a:latin typeface="Inter"/>
              </a:rPr>
              <a:t>●  &lt; 45 µs INT8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2697480"/>
            <a:ext cx="1737360" cy="420624"/>
          </a:xfrm>
          <a:prstGeom prst="roundRect">
            <a:avLst>
              <a:gd name="adj" fmla="val 18000"/>
            </a:avLst>
          </a:prstGeom>
          <a:solidFill>
            <a:srgbClr val="E8F6EE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200" b="1">
                <a:solidFill>
                  <a:srgbClr val="16A34A"/>
                </a:solidFill>
                <a:latin typeface="Inter"/>
              </a:rPr>
              <a:t>●  -90% MQTT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6824" y="2697480"/>
            <a:ext cx="1737360" cy="420624"/>
          </a:xfrm>
          <a:prstGeom prst="roundRect">
            <a:avLst>
              <a:gd name="adj" fmla="val 18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200" b="1">
                <a:solidFill>
                  <a:srgbClr val="D97706"/>
                </a:solidFill>
                <a:latin typeface="Inter"/>
              </a:rPr>
              <a:t>●  1,18 W DAYA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520440"/>
            <a:ext cx="2651760" cy="8961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94360" y="3520440"/>
            <a:ext cx="64008" cy="896112"/>
          </a:xfrm>
          <a:prstGeom prst="roundRect">
            <a:avLst>
              <a:gd name="adj" fmla="val 20000"/>
            </a:avLst>
          </a:prstGeom>
          <a:solidFill>
            <a:srgbClr val="15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3648456"/>
            <a:ext cx="2377440" cy="32918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700" b="1">
                <a:solidFill>
                  <a:srgbClr val="172B4D"/>
                </a:solidFill>
                <a:latin typeface="Inter"/>
              </a:rPr>
              <a:t>Benedicto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995928"/>
            <a:ext cx="23774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50" b="1">
                <a:solidFill>
                  <a:srgbClr val="15345B"/>
                </a:solidFill>
                <a:latin typeface="Inter"/>
              </a:rPr>
              <a:t>L3  •  Sirkuit &amp; RTL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79" y="3520440"/>
            <a:ext cx="2651760" cy="8961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383279" y="3520440"/>
            <a:ext cx="64008" cy="896112"/>
          </a:xfrm>
          <a:prstGeom prst="roundRect">
            <a:avLst>
              <a:gd name="adj" fmla="val 20000"/>
            </a:avLst>
          </a:prstGeom>
          <a:solidFill>
            <a:srgbClr val="006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47872" y="3648456"/>
            <a:ext cx="2377440" cy="32918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700" b="1">
                <a:solidFill>
                  <a:srgbClr val="172B4D"/>
                </a:solidFill>
                <a:latin typeface="Inter"/>
              </a:rPr>
              <a:t>Daniyal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3995928"/>
            <a:ext cx="23774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50" b="1">
                <a:solidFill>
                  <a:srgbClr val="006972"/>
                </a:solidFill>
                <a:latin typeface="Inter"/>
              </a:rPr>
              <a:t>L2  •  TinyML INT8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572000"/>
            <a:ext cx="2651760" cy="8961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94360" y="4572000"/>
            <a:ext cx="64008" cy="896112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4700016"/>
            <a:ext cx="2377440" cy="32918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700" b="1">
                <a:solidFill>
                  <a:srgbClr val="172B4D"/>
                </a:solidFill>
                <a:latin typeface="Inter"/>
              </a:rPr>
              <a:t>Bagus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5047488"/>
            <a:ext cx="23774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50" b="1">
                <a:solidFill>
                  <a:srgbClr val="16A34A"/>
                </a:solidFill>
                <a:latin typeface="Inter"/>
              </a:rPr>
              <a:t>L1  •  SCADA &amp; GIS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79" y="4572000"/>
            <a:ext cx="2651760" cy="8961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383279" y="4572000"/>
            <a:ext cx="64008" cy="896112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47872" y="4700016"/>
            <a:ext cx="2377440" cy="32918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700" b="1">
                <a:solidFill>
                  <a:srgbClr val="172B4D"/>
                </a:solidFill>
                <a:latin typeface="Inter"/>
              </a:rPr>
              <a:t>Dr. Aria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5047488"/>
            <a:ext cx="23774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50" b="1">
                <a:solidFill>
                  <a:srgbClr val="D97706"/>
                </a:solidFill>
                <a:latin typeface="Inter"/>
              </a:rPr>
              <a:t>Advisor  •  DeepTech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806440"/>
            <a:ext cx="5440680" cy="384048"/>
          </a:xfrm>
          <a:prstGeom prst="roundRect">
            <a:avLst>
              <a:gd name="adj" fmla="val 18000"/>
            </a:avLst>
          </a:prstGeom>
          <a:solidFill>
            <a:srgbClr val="EFF4FF"/>
          </a:solidFill>
          <a:ln w="12700">
            <a:solidFill>
              <a:srgbClr val="15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100" b="1">
                <a:solidFill>
                  <a:srgbClr val="15345B"/>
                </a:solidFill>
                <a:latin typeface="Inter"/>
              </a:rPr>
              <a:t>●  DEMO DAY ITB BANDUNG  •  PROTOTIPE TKT 4 TERUJI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12280" y="777240"/>
            <a:ext cx="4617720" cy="329184"/>
          </a:xfrm>
          <a:prstGeom prst="roundRect">
            <a:avLst>
              <a:gd name="adj" fmla="val 18000"/>
            </a:avLst>
          </a:prstGeom>
          <a:solidFill>
            <a:srgbClr val="EFF4FF"/>
          </a:solidFill>
          <a:ln w="12700">
            <a:solidFill>
              <a:srgbClr val="15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050" b="1">
                <a:solidFill>
                  <a:srgbClr val="15345B"/>
                </a:solidFill>
                <a:latin typeface="Inter"/>
              </a:rPr>
              <a:t>●  ARSITEKTUR CPS 3-LAPIS TERINTEGRASI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72600" y="1508760"/>
            <a:ext cx="205740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372600" y="1508760"/>
            <a:ext cx="64008" cy="96012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09760" y="1636776"/>
            <a:ext cx="1874519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Inter"/>
              </a:rPr>
              <a:t>LAYER 1  •  SCADA &amp; GIS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1929384"/>
            <a:ext cx="1874519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350" b="1">
                <a:solidFill>
                  <a:srgbClr val="172B4D"/>
                </a:solidFill>
                <a:latin typeface="Inter"/>
              </a:rPr>
              <a:t>Dashboard &amp; IEC 104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72600" y="2971800"/>
            <a:ext cx="205740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372600" y="2971800"/>
            <a:ext cx="64008" cy="960120"/>
          </a:xfrm>
          <a:prstGeom prst="roundRect">
            <a:avLst>
              <a:gd name="adj" fmla="val 20000"/>
            </a:avLst>
          </a:prstGeom>
          <a:solidFill>
            <a:srgbClr val="006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09760" y="3099816"/>
            <a:ext cx="1874519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00" b="1">
                <a:solidFill>
                  <a:srgbClr val="006972"/>
                </a:solidFill>
                <a:latin typeface="Inter"/>
              </a:rPr>
              <a:t>LAYER 2  •  EDGE AI INT8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3392424"/>
            <a:ext cx="1874519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350" b="1">
                <a:solidFill>
                  <a:srgbClr val="172B4D"/>
                </a:solidFill>
                <a:latin typeface="Inter"/>
              </a:rPr>
              <a:t>1D MobileNetV2 &lt; 45 µs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72600" y="4434840"/>
            <a:ext cx="205740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372600" y="4434840"/>
            <a:ext cx="64008" cy="960120"/>
          </a:xfrm>
          <a:prstGeom prst="roundRect">
            <a:avLst>
              <a:gd name="adj" fmla="val 20000"/>
            </a:avLst>
          </a:prstGeom>
          <a:solidFill>
            <a:srgbClr val="15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509760" y="4562855"/>
            <a:ext cx="1874519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00" b="1">
                <a:solidFill>
                  <a:srgbClr val="15345B"/>
                </a:solidFill>
                <a:latin typeface="Inter"/>
              </a:rPr>
              <a:t>LAYER 3  •  FISIK &amp; RTL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60" y="4855464"/>
            <a:ext cx="1874519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350" b="1">
                <a:solidFill>
                  <a:srgbClr val="172B4D"/>
                </a:solidFill>
                <a:latin typeface="Inter"/>
              </a:rPr>
              <a:t>True-RMS, ISR &amp; Verilog PAU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274320"/>
            <a:ext cx="3017520" cy="310896"/>
          </a:xfrm>
          <a:prstGeom prst="roundRect">
            <a:avLst>
              <a:gd name="adj" fmla="val 18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l"/>
            <a:r>
              <a:rPr sz="1000" b="1">
                <a:solidFill>
                  <a:srgbClr val="DC2626"/>
                </a:solidFill>
                <a:latin typeface="Inter"/>
              </a:rPr>
              <a:t>●  MASALAH INFRASTRUKTUR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74320"/>
            <a:ext cx="1627632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000" b="1">
                <a:solidFill>
                  <a:srgbClr val="64748B"/>
                </a:solidFill>
                <a:latin typeface="Inter"/>
              </a:rPr>
              <a:t>SLIDE 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800" b="1">
                <a:solidFill>
                  <a:srgbClr val="15345B"/>
                </a:solidFill>
                <a:latin typeface="Inter"/>
              </a:rPr>
              <a:t>Krisis Operasional 500.000+ Gardu Distribusi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1508760"/>
            <a:ext cx="2926080" cy="329184"/>
          </a:xfrm>
          <a:prstGeom prst="roundRect">
            <a:avLst>
              <a:gd name="adj" fmla="val 18000"/>
            </a:avLst>
          </a:prstGeom>
          <a:solidFill>
            <a:srgbClr val="E0F8FB"/>
          </a:solidFill>
          <a:ln w="12700">
            <a:solidFill>
              <a:srgbClr val="006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l"/>
            <a:r>
              <a:rPr sz="1100" b="1">
                <a:solidFill>
                  <a:srgbClr val="006972"/>
                </a:solidFill>
                <a:latin typeface="Inter"/>
              </a:rPr>
              <a:t>●  SKALA GARDU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965960"/>
            <a:ext cx="3017520" cy="9601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5400" b="1">
                <a:solidFill>
                  <a:srgbClr val="172B4D"/>
                </a:solidFill>
                <a:latin typeface="Inter"/>
              </a:rPr>
              <a:t>500.000+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926080"/>
            <a:ext cx="301752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000" b="1">
                <a:solidFill>
                  <a:srgbClr val="006972"/>
                </a:solidFill>
                <a:latin typeface="Inter"/>
              </a:rPr>
              <a:t>Gardu Distribusi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480560"/>
            <a:ext cx="297180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Inter"/>
              </a:rPr>
              <a:t>3–4 Alat Terpisah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5440680"/>
            <a:ext cx="2944368" cy="402336"/>
          </a:xfrm>
          <a:prstGeom prst="roundRect">
            <a:avLst>
              <a:gd name="adj" fmla="val 18000"/>
            </a:avLst>
          </a:prstGeom>
          <a:solidFill>
            <a:srgbClr val="E0F8FB"/>
          </a:solidFill>
          <a:ln w="12700">
            <a:solidFill>
              <a:srgbClr val="006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200" b="1">
                <a:solidFill>
                  <a:srgbClr val="006972"/>
                </a:solidFill>
                <a:latin typeface="Inter"/>
              </a:rPr>
              <a:t>69.084 MVA  •  ESDM 2024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508760"/>
            <a:ext cx="2926080" cy="329184"/>
          </a:xfrm>
          <a:prstGeom prst="roundRect">
            <a:avLst>
              <a:gd name="adj" fmla="val 18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l"/>
            <a:r>
              <a:rPr sz="1100" b="1">
                <a:solidFill>
                  <a:srgbClr val="DC2626"/>
                </a:solidFill>
                <a:latin typeface="Inter"/>
              </a:rPr>
              <a:t>●  KERUGIAN SUSUT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3017520" cy="9601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5400" b="1">
                <a:solidFill>
                  <a:srgbClr val="172B4D"/>
                </a:solidFill>
                <a:latin typeface="Inter"/>
              </a:rPr>
              <a:t>Rp 4,2 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926080"/>
            <a:ext cx="301752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000" b="1">
                <a:solidFill>
                  <a:srgbClr val="DC2626"/>
                </a:solidFill>
                <a:latin typeface="Inter"/>
              </a:rPr>
              <a:t>Rugi / 1% Susut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4480560"/>
            <a:ext cx="297180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Inter"/>
              </a:rPr>
              <a:t>Trafo Rp 180 Jt / Unit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5440680"/>
            <a:ext cx="2944368" cy="402336"/>
          </a:xfrm>
          <a:prstGeom prst="roundRect">
            <a:avLst>
              <a:gd name="adj" fmla="val 18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Susut 8,55%  •  PLN 2024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508760"/>
            <a:ext cx="2926080" cy="329184"/>
          </a:xfrm>
          <a:prstGeom prst="roundRect">
            <a:avLst>
              <a:gd name="adj" fmla="val 18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l"/>
            <a:r>
              <a:rPr sz="1100" b="1">
                <a:solidFill>
                  <a:srgbClr val="D97706"/>
                </a:solidFill>
                <a:latin typeface="Inter"/>
              </a:rPr>
              <a:t>●  BEBAN CLOUD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965960"/>
            <a:ext cx="3017520" cy="9601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5400" b="1">
                <a:solidFill>
                  <a:srgbClr val="172B4D"/>
                </a:solidFill>
                <a:latin typeface="Inter"/>
              </a:rPr>
              <a:t>1,04 GB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926080"/>
            <a:ext cx="301752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Inter"/>
              </a:rPr>
              <a:t>Data / Gardu / Bln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480560"/>
            <a:ext cx="297180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Inter"/>
              </a:rPr>
              <a:t>Polling 200ms vs 99% Normal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5440680"/>
            <a:ext cx="2944368" cy="402336"/>
          </a:xfrm>
          <a:prstGeom prst="roundRect">
            <a:avLst>
              <a:gd name="adj" fmla="val 18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200" b="1">
                <a:solidFill>
                  <a:srgbClr val="D97706"/>
                </a:solidFill>
                <a:latin typeface="Inter"/>
              </a:rPr>
              <a:t>Wajib TKDN &gt; 40%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274320"/>
            <a:ext cx="3017520" cy="310896"/>
          </a:xfrm>
          <a:prstGeom prst="roundRect">
            <a:avLst>
              <a:gd name="adj" fmla="val 18000"/>
            </a:avLst>
          </a:prstGeom>
          <a:solidFill>
            <a:srgbClr val="E0F8FB"/>
          </a:solidFill>
          <a:ln w="12700">
            <a:solidFill>
              <a:srgbClr val="006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l"/>
            <a:r>
              <a:rPr sz="1000" b="1">
                <a:solidFill>
                  <a:srgbClr val="006972"/>
                </a:solidFill>
                <a:latin typeface="Inter"/>
              </a:rPr>
              <a:t>●  VALIDASI PROBLEM-OWNER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74320"/>
            <a:ext cx="1627632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000" b="1">
                <a:solidFill>
                  <a:srgbClr val="64748B"/>
                </a:solidFill>
                <a:latin typeface="Inter"/>
              </a:rPr>
              <a:t>SLIDE 03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800" b="1">
                <a:solidFill>
                  <a:srgbClr val="15345B"/>
                </a:solidFill>
                <a:latin typeface="Inter"/>
              </a:rPr>
              <a:t>Validasi Kebutuhan Bersama 3 Mitra Industri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3383280"/>
            <a:ext cx="1874519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SENTINEL-X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3749039"/>
            <a:ext cx="1874519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200" b="1">
                <a:solidFill>
                  <a:srgbClr val="16B8C8"/>
                </a:solidFill>
                <a:latin typeface="Inter"/>
              </a:rPr>
              <a:t>4-IN-1 NODE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913632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64008" cy="2057400"/>
          </a:xfrm>
          <a:prstGeom prst="roundRect">
            <a:avLst>
              <a:gd name="adj" fmla="val 20000"/>
            </a:avLst>
          </a:prstGeom>
          <a:solidFill>
            <a:srgbClr val="006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77240" y="1618488"/>
            <a:ext cx="3429000" cy="329184"/>
          </a:xfrm>
          <a:prstGeom prst="roundRect">
            <a:avLst>
              <a:gd name="adj" fmla="val 18000"/>
            </a:avLst>
          </a:prstGeom>
          <a:solidFill>
            <a:srgbClr val="E0F8FB"/>
          </a:solidFill>
          <a:ln w="12700">
            <a:solidFill>
              <a:srgbClr val="006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l"/>
            <a:r>
              <a:rPr sz="1100" b="1">
                <a:solidFill>
                  <a:srgbClr val="006972"/>
                </a:solidFill>
                <a:latin typeface="Inter"/>
              </a:rPr>
              <a:t>●  PT PLN PUSLITBANG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75688"/>
            <a:ext cx="3474720" cy="5486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400" b="1">
                <a:solidFill>
                  <a:srgbClr val="172B4D"/>
                </a:solidFill>
                <a:latin typeface="Inter"/>
              </a:rPr>
              <a:t>4-in-1 + Trip Bay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788920"/>
            <a:ext cx="2377440" cy="384048"/>
          </a:xfrm>
          <a:prstGeom prst="roundRect">
            <a:avLst>
              <a:gd name="adj" fmla="val 18000"/>
            </a:avLst>
          </a:prstGeom>
          <a:solidFill>
            <a:srgbClr val="EFF4FF"/>
          </a:solidFill>
          <a:ln w="12700">
            <a:solidFill>
              <a:srgbClr val="15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200" b="1">
                <a:solidFill>
                  <a:srgbClr val="15345B"/>
                </a:solidFill>
                <a:latin typeface="Inter"/>
              </a:rPr>
              <a:t>SPLN &amp; IEC 104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51960"/>
            <a:ext cx="3913632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4251960"/>
            <a:ext cx="64008" cy="205740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77240" y="4453128"/>
            <a:ext cx="3429000" cy="329184"/>
          </a:xfrm>
          <a:prstGeom prst="roundRect">
            <a:avLst>
              <a:gd name="adj" fmla="val 18000"/>
            </a:avLst>
          </a:prstGeom>
          <a:solidFill>
            <a:srgbClr val="E8F6EE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l"/>
            <a:r>
              <a:rPr sz="1100" b="1">
                <a:solidFill>
                  <a:srgbClr val="16A34A"/>
                </a:solidFill>
                <a:latin typeface="Inter"/>
              </a:rPr>
              <a:t>●  PT INDISMART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10328"/>
            <a:ext cx="3474720" cy="5486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400" b="1">
                <a:solidFill>
                  <a:srgbClr val="172B4D"/>
                </a:solidFill>
                <a:latin typeface="Inter"/>
              </a:rPr>
              <a:t>PCB 4-Layer Lokal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623560"/>
            <a:ext cx="2377440" cy="384048"/>
          </a:xfrm>
          <a:prstGeom prst="roundRect">
            <a:avLst>
              <a:gd name="adj" fmla="val 18000"/>
            </a:avLst>
          </a:prstGeom>
          <a:solidFill>
            <a:srgbClr val="EFF4FF"/>
          </a:solidFill>
          <a:ln w="12700">
            <a:solidFill>
              <a:srgbClr val="15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200" b="1">
                <a:solidFill>
                  <a:srgbClr val="15345B"/>
                </a:solidFill>
                <a:latin typeface="Inter"/>
              </a:rPr>
              <a:t>TKDN &gt; 40%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417320"/>
            <a:ext cx="3913632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726679" y="1417320"/>
            <a:ext cx="64008" cy="205740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955279" y="1618488"/>
            <a:ext cx="3429000" cy="329184"/>
          </a:xfrm>
          <a:prstGeom prst="roundRect">
            <a:avLst>
              <a:gd name="adj" fmla="val 18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l"/>
            <a:r>
              <a:rPr sz="1100" b="1">
                <a:solidFill>
                  <a:srgbClr val="D97706"/>
                </a:solidFill>
                <a:latin typeface="Inter"/>
              </a:rPr>
              <a:t>●  DEFEND ID (LEN &amp; HARIFF)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075688"/>
            <a:ext cx="3474720" cy="5486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400" b="1">
                <a:solidFill>
                  <a:srgbClr val="172B4D"/>
                </a:solidFill>
                <a:latin typeface="Inter"/>
              </a:rPr>
              <a:t>Loop Kawat &lt; 5 µs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2788920"/>
            <a:ext cx="2377440" cy="384048"/>
          </a:xfrm>
          <a:prstGeom prst="roundRect">
            <a:avLst>
              <a:gd name="adj" fmla="val 18000"/>
            </a:avLst>
          </a:prstGeom>
          <a:solidFill>
            <a:srgbClr val="EFF4FF"/>
          </a:solidFill>
          <a:ln w="12700">
            <a:solidFill>
              <a:srgbClr val="15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200" b="1">
                <a:solidFill>
                  <a:srgbClr val="15345B"/>
                </a:solidFill>
                <a:latin typeface="Inter"/>
              </a:rPr>
              <a:t>Daya 1,18 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79" y="4251960"/>
            <a:ext cx="3913632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726679" y="4251960"/>
            <a:ext cx="64008" cy="205740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955279" y="4453128"/>
            <a:ext cx="3429000" cy="329184"/>
          </a:xfrm>
          <a:prstGeom prst="roundRect">
            <a:avLst>
              <a:gd name="adj" fmla="val 18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l"/>
            <a:r>
              <a:rPr sz="1100" b="1">
                <a:solidFill>
                  <a:srgbClr val="DC2626"/>
                </a:solidFill>
                <a:latin typeface="Inter"/>
              </a:rPr>
              <a:t>●  COACHING CLINIC 17 OKT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910328"/>
            <a:ext cx="3474720" cy="5486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400" b="1">
                <a:solidFill>
                  <a:srgbClr val="172B4D"/>
                </a:solidFill>
                <a:latin typeface="Inter"/>
              </a:rPr>
              <a:t>100% Otonom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5623560"/>
            <a:ext cx="2377440" cy="384048"/>
          </a:xfrm>
          <a:prstGeom prst="roundRect">
            <a:avLst>
              <a:gd name="adj" fmla="val 18000"/>
            </a:avLst>
          </a:prstGeom>
          <a:solidFill>
            <a:srgbClr val="EFF4FF"/>
          </a:solidFill>
          <a:ln w="12700">
            <a:solidFill>
              <a:srgbClr val="15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200" b="1">
                <a:solidFill>
                  <a:srgbClr val="15345B"/>
                </a:solidFill>
                <a:latin typeface="Inter"/>
              </a:rPr>
              <a:t>Goertzel 48 Hz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274320"/>
            <a:ext cx="3017520" cy="310896"/>
          </a:xfrm>
          <a:prstGeom prst="roundRect">
            <a:avLst>
              <a:gd name="adj" fmla="val 18000"/>
            </a:avLst>
          </a:prstGeom>
          <a:solidFill>
            <a:srgbClr val="EFF4FF"/>
          </a:solidFill>
          <a:ln w="12700">
            <a:solidFill>
              <a:srgbClr val="15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l"/>
            <a:r>
              <a:rPr sz="1000" b="1">
                <a:solidFill>
                  <a:srgbClr val="15345B"/>
                </a:solidFill>
                <a:latin typeface="Inter"/>
              </a:rPr>
              <a:t>●  ARSITEKTUR SISTEM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74320"/>
            <a:ext cx="1627632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000" b="1">
                <a:solidFill>
                  <a:srgbClr val="64748B"/>
                </a:solidFill>
                <a:latin typeface="Inter"/>
              </a:rPr>
              <a:t>SLIDE 04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800" b="1">
                <a:solidFill>
                  <a:srgbClr val="15345B"/>
                </a:solidFill>
                <a:latin typeface="Inter"/>
              </a:rPr>
              <a:t>Arsitektur CPS 3-Lapis &amp; 4 Parameter Kunci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91640"/>
            <a:ext cx="2487168" cy="5943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3000" b="1">
                <a:solidFill>
                  <a:srgbClr val="172B4D"/>
                </a:solidFill>
                <a:latin typeface="Inter"/>
              </a:rPr>
              <a:t>1,18 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304288"/>
            <a:ext cx="2487168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100" b="1">
                <a:solidFill>
                  <a:srgbClr val="16A34A"/>
                </a:solidFill>
                <a:latin typeface="Inter"/>
              </a:rPr>
              <a:t>DAYA AKTIF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" y="2651760"/>
            <a:ext cx="1828800" cy="310896"/>
          </a:xfrm>
          <a:prstGeom prst="roundRect">
            <a:avLst>
              <a:gd name="adj" fmla="val 18000"/>
            </a:avLst>
          </a:prstGeom>
          <a:solidFill>
            <a:srgbClr val="E8F6EE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050" b="1">
                <a:solidFill>
                  <a:srgbClr val="16A34A"/>
                </a:solidFill>
                <a:latin typeface="Inter"/>
              </a:rPr>
              <a:t>Baterai &gt; 18 Jam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38144" y="1691640"/>
            <a:ext cx="2487168" cy="5943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3000" b="1" dirty="0">
                <a:solidFill>
                  <a:srgbClr val="172B4D"/>
                </a:solidFill>
                <a:latin typeface="Inter"/>
              </a:rPr>
              <a:t>&lt; 45 µs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38144" y="2304288"/>
            <a:ext cx="2487168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100" b="1">
                <a:solidFill>
                  <a:srgbClr val="006972"/>
                </a:solidFill>
                <a:latin typeface="Inter"/>
              </a:rPr>
              <a:t>INFERENSI INT8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67328" y="2651760"/>
            <a:ext cx="1828800" cy="310896"/>
          </a:xfrm>
          <a:prstGeom prst="roundRect">
            <a:avLst>
              <a:gd name="adj" fmla="val 18000"/>
            </a:avLst>
          </a:prstGeom>
          <a:solidFill>
            <a:srgbClr val="E0F8FB"/>
          </a:solidFill>
          <a:ln w="12700">
            <a:solidFill>
              <a:srgbClr val="006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050" b="1">
                <a:solidFill>
                  <a:srgbClr val="006972"/>
                </a:solidFill>
                <a:latin typeface="Inter"/>
              </a:rPr>
              <a:t>Tanpa FPU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691640"/>
            <a:ext cx="2487168" cy="5943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3000" b="1">
                <a:solidFill>
                  <a:srgbClr val="172B4D"/>
                </a:solidFill>
                <a:latin typeface="Inter"/>
              </a:rPr>
              <a:t>-90%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304288"/>
            <a:ext cx="2487168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100" b="1">
                <a:solidFill>
                  <a:srgbClr val="15345B"/>
                </a:solidFill>
                <a:latin typeface="Inter"/>
              </a:rPr>
              <a:t>TRAFIK MQTT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92824" y="2651760"/>
            <a:ext cx="1828800" cy="310896"/>
          </a:xfrm>
          <a:prstGeom prst="roundRect">
            <a:avLst>
              <a:gd name="adj" fmla="val 18000"/>
            </a:avLst>
          </a:prstGeom>
          <a:solidFill>
            <a:srgbClr val="EFF4FF"/>
          </a:solidFill>
          <a:ln w="12700">
            <a:solidFill>
              <a:srgbClr val="15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050" b="1">
                <a:solidFill>
                  <a:srgbClr val="15345B"/>
                </a:solidFill>
                <a:latin typeface="Inter"/>
              </a:rPr>
              <a:t>104 MB / Bulan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9992" y="1691640"/>
            <a:ext cx="2487168" cy="5943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3000" b="1">
                <a:solidFill>
                  <a:srgbClr val="172B4D"/>
                </a:solidFill>
                <a:latin typeface="Inter"/>
              </a:rPr>
              <a:t>≥ 92%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2304288"/>
            <a:ext cx="2487168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100" b="1">
                <a:solidFill>
                  <a:srgbClr val="D97706"/>
                </a:solidFill>
                <a:latin typeface="Inter"/>
              </a:rPr>
              <a:t>AKURASI 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09176" y="2651760"/>
            <a:ext cx="1828800" cy="310896"/>
          </a:xfrm>
          <a:prstGeom prst="roundRect">
            <a:avLst>
              <a:gd name="adj" fmla="val 18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050" b="1">
                <a:solidFill>
                  <a:srgbClr val="D97706"/>
                </a:solidFill>
                <a:latin typeface="Inter"/>
              </a:rPr>
              <a:t>Multi-Threat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364992"/>
            <a:ext cx="10945368" cy="9509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1792" y="3364992"/>
            <a:ext cx="64008" cy="950976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68680" y="3621024"/>
            <a:ext cx="2971800" cy="438912"/>
          </a:xfrm>
          <a:prstGeom prst="roundRect">
            <a:avLst>
              <a:gd name="adj" fmla="val 18000"/>
            </a:avLst>
          </a:prstGeom>
          <a:solidFill>
            <a:srgbClr val="E8F6EE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l"/>
            <a:r>
              <a:rPr sz="1250" b="1">
                <a:solidFill>
                  <a:srgbClr val="16A34A"/>
                </a:solidFill>
                <a:latin typeface="Inter"/>
              </a:rPr>
              <a:t>●  LAYER 1  •  SCADA &amp; GIS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69080" y="3621024"/>
            <a:ext cx="2304288" cy="438912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 w="12700"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200" b="1">
                <a:solidFill>
                  <a:srgbClr val="172B4D"/>
                </a:solidFill>
                <a:latin typeface="Inter"/>
              </a:rPr>
              <a:t>Peta GIS Real-Time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3621024"/>
            <a:ext cx="2304288" cy="438912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 w="12700"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200" b="1">
                <a:solidFill>
                  <a:srgbClr val="172B4D"/>
                </a:solidFill>
                <a:latin typeface="Inter"/>
              </a:rPr>
              <a:t>Skor Kesehatan 0–100%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3621024"/>
            <a:ext cx="2304288" cy="438912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 w="12700"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200" b="1">
                <a:solidFill>
                  <a:srgbClr val="172B4D"/>
                </a:solidFill>
                <a:latin typeface="Inter"/>
              </a:rPr>
              <a:t>Gateway IEC 104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4498848"/>
            <a:ext cx="10945368" cy="9509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21792" y="4498848"/>
            <a:ext cx="64008" cy="950976"/>
          </a:xfrm>
          <a:prstGeom prst="roundRect">
            <a:avLst>
              <a:gd name="adj" fmla="val 20000"/>
            </a:avLst>
          </a:prstGeom>
          <a:solidFill>
            <a:srgbClr val="006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68680" y="4754880"/>
            <a:ext cx="2971800" cy="438912"/>
          </a:xfrm>
          <a:prstGeom prst="roundRect">
            <a:avLst>
              <a:gd name="adj" fmla="val 18000"/>
            </a:avLst>
          </a:prstGeom>
          <a:solidFill>
            <a:srgbClr val="E0F8FB"/>
          </a:solidFill>
          <a:ln w="12700">
            <a:solidFill>
              <a:srgbClr val="006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l"/>
            <a:r>
              <a:rPr sz="1250" b="1">
                <a:solidFill>
                  <a:srgbClr val="006972"/>
                </a:solidFill>
                <a:latin typeface="Inter"/>
              </a:rPr>
              <a:t>●  LAYER 2  •  EDGE AI INT8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69080" y="4754880"/>
            <a:ext cx="2304288" cy="438912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 w="12700"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200" b="1">
                <a:solidFill>
                  <a:srgbClr val="172B4D"/>
                </a:solidFill>
                <a:latin typeface="Inter"/>
              </a:rPr>
              <a:t>1D Micro-MobileNetV2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4754880"/>
            <a:ext cx="2304288" cy="438912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 w="12700"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200" b="1">
                <a:solidFill>
                  <a:srgbClr val="172B4D"/>
                </a:solidFill>
                <a:latin typeface="Inter"/>
              </a:rPr>
              <a:t>Goertzel 48 Hz FFT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06840" y="4754880"/>
            <a:ext cx="2304288" cy="438912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 w="12700"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200" b="1">
                <a:solidFill>
                  <a:srgbClr val="172B4D"/>
                </a:solidFill>
                <a:latin typeface="Inter"/>
              </a:rPr>
              <a:t>RAM &lt; 2,1 KB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" y="5632704"/>
            <a:ext cx="10945368" cy="9509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21792" y="5632704"/>
            <a:ext cx="64008" cy="950976"/>
          </a:xfrm>
          <a:prstGeom prst="roundRect">
            <a:avLst>
              <a:gd name="adj" fmla="val 20000"/>
            </a:avLst>
          </a:prstGeom>
          <a:solidFill>
            <a:srgbClr val="15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68680" y="5888736"/>
            <a:ext cx="2971800" cy="438912"/>
          </a:xfrm>
          <a:prstGeom prst="roundRect">
            <a:avLst>
              <a:gd name="adj" fmla="val 18000"/>
            </a:avLst>
          </a:prstGeom>
          <a:solidFill>
            <a:srgbClr val="EFF4FF"/>
          </a:solidFill>
          <a:ln w="12700">
            <a:solidFill>
              <a:srgbClr val="15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l"/>
            <a:r>
              <a:rPr sz="1250" b="1">
                <a:solidFill>
                  <a:srgbClr val="15345B"/>
                </a:solidFill>
                <a:latin typeface="Inter"/>
              </a:rPr>
              <a:t>●  LAYER 3  •  SIRKUIT &amp; RTL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69080" y="5888736"/>
            <a:ext cx="2304288" cy="438912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 w="12700"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200" b="1">
                <a:solidFill>
                  <a:srgbClr val="172B4D"/>
                </a:solidFill>
                <a:latin typeface="Inter"/>
              </a:rPr>
              <a:t>True-RMS 32 Sampel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37960" y="5888736"/>
            <a:ext cx="2304288" cy="438912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 w="12700"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200" b="1">
                <a:solidFill>
                  <a:srgbClr val="172B4D"/>
                </a:solidFill>
                <a:latin typeface="Inter"/>
              </a:rPr>
              <a:t>Hardware ISR GPIO 14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06840" y="5888736"/>
            <a:ext cx="2304288" cy="438912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 w="12700"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200" b="1">
                <a:solidFill>
                  <a:srgbClr val="172B4D"/>
                </a:solidFill>
                <a:latin typeface="Inter"/>
              </a:rPr>
              <a:t>RTL Verilog PAU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274320"/>
            <a:ext cx="3017520" cy="310896"/>
          </a:xfrm>
          <a:prstGeom prst="roundRect">
            <a:avLst>
              <a:gd name="adj" fmla="val 18000"/>
            </a:avLst>
          </a:prstGeom>
          <a:solidFill>
            <a:srgbClr val="E0F8FB"/>
          </a:solidFill>
          <a:ln w="12700">
            <a:solidFill>
              <a:srgbClr val="006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l"/>
            <a:r>
              <a:rPr sz="1000" b="1">
                <a:solidFill>
                  <a:srgbClr val="006972"/>
                </a:solidFill>
                <a:latin typeface="Inter"/>
              </a:rPr>
              <a:t>●  CYBER-PHYSICAL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74320"/>
            <a:ext cx="1627632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000" b="1">
                <a:solidFill>
                  <a:srgbClr val="64748B"/>
                </a:solidFill>
                <a:latin typeface="Inter"/>
              </a:rPr>
              <a:t>SLIDE 05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800" b="1">
                <a:solidFill>
                  <a:srgbClr val="15345B"/>
                </a:solidFill>
                <a:latin typeface="Inter"/>
              </a:rPr>
              <a:t>Loop Proteksi Otonom End-to-End (27,2 ms)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1508760"/>
            <a:ext cx="2788920" cy="329184"/>
          </a:xfrm>
          <a:prstGeom prst="roundRect">
            <a:avLst>
              <a:gd name="adj" fmla="val 18000"/>
            </a:avLst>
          </a:prstGeom>
          <a:solidFill>
            <a:srgbClr val="EFF4FF"/>
          </a:solidFill>
          <a:ln w="12700">
            <a:solidFill>
              <a:srgbClr val="15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l"/>
            <a:r>
              <a:rPr sz="1100" b="1">
                <a:solidFill>
                  <a:srgbClr val="15345B"/>
                </a:solidFill>
                <a:latin typeface="Inter"/>
              </a:rPr>
              <a:t>●  STAGE 01  •  LAYER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965960"/>
            <a:ext cx="2834640" cy="8686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5200" b="1">
                <a:solidFill>
                  <a:srgbClr val="172B4D"/>
                </a:solidFill>
                <a:latin typeface="Inter"/>
              </a:rPr>
              <a:t>19,2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880360"/>
            <a:ext cx="283464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000" b="1">
                <a:solidFill>
                  <a:srgbClr val="15345B"/>
                </a:solidFill>
                <a:latin typeface="Inter"/>
              </a:rPr>
              <a:t>Akuisisi Fisik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59" y="3474720"/>
            <a:ext cx="2788920" cy="402336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 w="12700"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200" b="1">
                <a:solidFill>
                  <a:srgbClr val="172B4D"/>
                </a:solidFill>
                <a:latin typeface="Inter"/>
              </a:rPr>
              <a:t>True-RMS + FFT 48 Hz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90872" y="1508760"/>
            <a:ext cx="2788920" cy="329184"/>
          </a:xfrm>
          <a:prstGeom prst="roundRect">
            <a:avLst>
              <a:gd name="adj" fmla="val 18000"/>
            </a:avLst>
          </a:prstGeom>
          <a:solidFill>
            <a:srgbClr val="E0F8FB"/>
          </a:solidFill>
          <a:ln w="12700">
            <a:solidFill>
              <a:srgbClr val="006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l"/>
            <a:r>
              <a:rPr sz="1100" b="1">
                <a:solidFill>
                  <a:srgbClr val="006972"/>
                </a:solidFill>
                <a:latin typeface="Inter"/>
              </a:rPr>
              <a:t>●  STAGE 02  •  LAYER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1965960"/>
            <a:ext cx="2834640" cy="8686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5200" b="1">
                <a:solidFill>
                  <a:srgbClr val="172B4D"/>
                </a:solidFill>
                <a:latin typeface="Inter"/>
              </a:rPr>
              <a:t>0,04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880360"/>
            <a:ext cx="283464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000" b="1">
                <a:solidFill>
                  <a:srgbClr val="006972"/>
                </a:solidFill>
                <a:latin typeface="Inter"/>
              </a:rPr>
              <a:t>Inferensi Edge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90872" y="3474720"/>
            <a:ext cx="2788920" cy="402336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 w="12700"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200" b="1">
                <a:solidFill>
                  <a:srgbClr val="172B4D"/>
                </a:solidFill>
                <a:latin typeface="Inter"/>
              </a:rPr>
              <a:t>1D MobileNetV2 INT8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508760"/>
            <a:ext cx="2788920" cy="329184"/>
          </a:xfrm>
          <a:prstGeom prst="roundRect">
            <a:avLst>
              <a:gd name="adj" fmla="val 18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l"/>
            <a:r>
              <a:rPr sz="1100" b="1">
                <a:solidFill>
                  <a:srgbClr val="DC2626"/>
                </a:solidFill>
                <a:latin typeface="Inter"/>
              </a:rPr>
              <a:t>●  STAGE 03  •  AKSI TRIP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965960"/>
            <a:ext cx="2834640" cy="8686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5200" b="1">
                <a:solidFill>
                  <a:srgbClr val="172B4D"/>
                </a:solidFill>
                <a:latin typeface="Inter"/>
              </a:rPr>
              <a:t>8,0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880360"/>
            <a:ext cx="283464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000" b="1">
                <a:solidFill>
                  <a:srgbClr val="DC2626"/>
                </a:solidFill>
                <a:latin typeface="Inter"/>
              </a:rPr>
              <a:t>Relay &amp; Alarm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3474720"/>
            <a:ext cx="2788920" cy="402336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 w="12700"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200" b="1">
                <a:solidFill>
                  <a:srgbClr val="172B4D"/>
                </a:solidFill>
                <a:latin typeface="Inter"/>
              </a:rPr>
              <a:t>Trip 12V + MQTT Burst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54880"/>
            <a:ext cx="256032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600" b="1">
                <a:solidFill>
                  <a:srgbClr val="16A34A"/>
                </a:solidFill>
                <a:latin typeface="Inter"/>
              </a:rPr>
              <a:t>SENTINEL-X LOKAL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872" y="4787820"/>
            <a:ext cx="1371600" cy="4572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200" b="1" dirty="0">
                <a:solidFill>
                  <a:srgbClr val="16A34A"/>
                </a:solidFill>
                <a:latin typeface="Inter"/>
              </a:rPr>
              <a:t>27,2 </a:t>
            </a:r>
            <a:r>
              <a:rPr sz="2200" b="1" dirty="0" err="1">
                <a:solidFill>
                  <a:srgbClr val="16A34A"/>
                </a:solidFill>
                <a:latin typeface="Inter"/>
              </a:rPr>
              <a:t>ms</a:t>
            </a:r>
            <a:endParaRPr sz="2200" b="1" dirty="0">
              <a:solidFill>
                <a:srgbClr val="16A34A"/>
              </a:solidFill>
              <a:latin typeface="Inter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732520" y="4754880"/>
            <a:ext cx="2697480" cy="365760"/>
          </a:xfrm>
          <a:prstGeom prst="roundRect">
            <a:avLst>
              <a:gd name="adj" fmla="val 18000"/>
            </a:avLst>
          </a:prstGeom>
          <a:solidFill>
            <a:srgbClr val="E8F6EE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150" b="1">
                <a:solidFill>
                  <a:srgbClr val="16A34A"/>
                </a:solidFill>
                <a:latin typeface="Inter"/>
              </a:rPr>
              <a:t>●  18× LEBIH CEPAT &amp; OTONOM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86400"/>
            <a:ext cx="256032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600" b="1">
                <a:solidFill>
                  <a:srgbClr val="DC2626"/>
                </a:solidFill>
                <a:latin typeface="Inter"/>
              </a:rPr>
              <a:t>CLOUD IOT BIASA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5440680"/>
            <a:ext cx="1371600" cy="4572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200" b="1">
                <a:solidFill>
                  <a:srgbClr val="DC2626"/>
                </a:solidFill>
                <a:latin typeface="Inter"/>
              </a:rPr>
              <a:t>&gt; 500 ms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274320"/>
            <a:ext cx="3017520" cy="310896"/>
          </a:xfrm>
          <a:prstGeom prst="roundRect">
            <a:avLst>
              <a:gd name="adj" fmla="val 18000"/>
            </a:avLst>
          </a:prstGeom>
          <a:solidFill>
            <a:srgbClr val="EFF4FF"/>
          </a:solidFill>
          <a:ln w="12700">
            <a:solidFill>
              <a:srgbClr val="15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l"/>
            <a:r>
              <a:rPr sz="1000" b="1">
                <a:solidFill>
                  <a:srgbClr val="15345B"/>
                </a:solidFill>
                <a:latin typeface="Inter"/>
              </a:rPr>
              <a:t>●  LAYER 2  •  EDGE AI &amp; DSP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74320"/>
            <a:ext cx="1627632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000" b="1">
                <a:solidFill>
                  <a:srgbClr val="64748B"/>
                </a:solidFill>
                <a:latin typeface="Inter"/>
              </a:rPr>
              <a:t>SLIDE 06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800" b="1">
                <a:solidFill>
                  <a:srgbClr val="15345B"/>
                </a:solidFill>
                <a:latin typeface="Inter"/>
              </a:rPr>
              <a:t>1D Micro-MobileNetV2 INT8 &amp; Ekstraksi Spektral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1463040"/>
            <a:ext cx="4846320" cy="329184"/>
          </a:xfrm>
          <a:prstGeom prst="roundRect">
            <a:avLst>
              <a:gd name="adj" fmla="val 18000"/>
            </a:avLst>
          </a:prstGeom>
          <a:solidFill>
            <a:srgbClr val="EFF4FF"/>
          </a:solidFill>
          <a:ln w="12700">
            <a:solidFill>
              <a:srgbClr val="15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l"/>
            <a:r>
              <a:rPr sz="1100" b="1">
                <a:solidFill>
                  <a:srgbClr val="15345B"/>
                </a:solidFill>
                <a:latin typeface="Inter"/>
              </a:rPr>
              <a:t>●  ARSITEKTUR TENSOR INT8 (TANPA FPU)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1965960"/>
            <a:ext cx="4846320" cy="822960"/>
          </a:xfrm>
          <a:prstGeom prst="roundRect">
            <a:avLst>
              <a:gd name="adj" fmla="val 4000"/>
            </a:avLst>
          </a:prstGeom>
          <a:solidFill>
            <a:srgbClr val="EFF4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4672" y="1965960"/>
            <a:ext cx="64008" cy="822960"/>
          </a:xfrm>
          <a:prstGeom prst="roundRect">
            <a:avLst>
              <a:gd name="adj" fmla="val 20000"/>
            </a:avLst>
          </a:prstGeom>
          <a:solidFill>
            <a:srgbClr val="15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075688"/>
            <a:ext cx="448056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00" b="1">
                <a:solidFill>
                  <a:srgbClr val="15345B"/>
                </a:solidFill>
                <a:latin typeface="Inter"/>
              </a:rPr>
              <a:t>01  •  INPUT VEKTOR 4-KANAL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50008"/>
            <a:ext cx="448056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Inter"/>
              </a:rPr>
              <a:t>Arus RMS  •  Getar 48Hz  •  Gas  •  Pintu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2971800"/>
            <a:ext cx="4846320" cy="822960"/>
          </a:xfrm>
          <a:prstGeom prst="roundRect">
            <a:avLst>
              <a:gd name="adj" fmla="val 4000"/>
            </a:avLst>
          </a:prstGeom>
          <a:solidFill>
            <a:srgbClr val="EFF4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4672" y="2971800"/>
            <a:ext cx="64008" cy="822960"/>
          </a:xfrm>
          <a:prstGeom prst="roundRect">
            <a:avLst>
              <a:gd name="adj" fmla="val 20000"/>
            </a:avLst>
          </a:prstGeom>
          <a:solidFill>
            <a:srgbClr val="006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081528"/>
            <a:ext cx="448056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00" b="1">
                <a:solidFill>
                  <a:srgbClr val="006972"/>
                </a:solidFill>
                <a:latin typeface="Inter"/>
              </a:rPr>
              <a:t>02  •  POINTWISE EXPANSION 1×1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355848"/>
            <a:ext cx="448056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Inter"/>
              </a:rPr>
              <a:t>4 Ch ➔ 8 Ch Hidden + ReLU6 INT8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" y="3977639"/>
            <a:ext cx="4846320" cy="822960"/>
          </a:xfrm>
          <a:prstGeom prst="roundRect">
            <a:avLst>
              <a:gd name="adj" fmla="val 4000"/>
            </a:avLst>
          </a:prstGeom>
          <a:solidFill>
            <a:srgbClr val="EFF4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4672" y="3977639"/>
            <a:ext cx="64008" cy="82296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087368"/>
            <a:ext cx="448056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Inter"/>
              </a:rPr>
              <a:t>03  •  DEPTHWISE 1D TEMPORAL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361688"/>
            <a:ext cx="448056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Inter"/>
              </a:rPr>
              <a:t>Filter Konvolusi 3-Tap [t, t-1, t-2]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" y="4983480"/>
            <a:ext cx="4846320" cy="822960"/>
          </a:xfrm>
          <a:prstGeom prst="roundRect">
            <a:avLst>
              <a:gd name="adj" fmla="val 4000"/>
            </a:avLst>
          </a:prstGeom>
          <a:solidFill>
            <a:srgbClr val="EFF4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04672" y="4983480"/>
            <a:ext cx="64008" cy="82296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5093208"/>
            <a:ext cx="448056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Inter"/>
              </a:rPr>
              <a:t>04  •  PROYEKSI &amp; 4 KEPALA RISIKO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67528"/>
            <a:ext cx="448056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Inter"/>
              </a:rPr>
              <a:t>Tamper  •  Trafo  •  Sabotase  •  Health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" y="5897880"/>
            <a:ext cx="1536192" cy="329184"/>
          </a:xfrm>
          <a:prstGeom prst="roundRect">
            <a:avLst>
              <a:gd name="adj" fmla="val 18000"/>
            </a:avLst>
          </a:prstGeom>
          <a:solidFill>
            <a:srgbClr val="E0F8FB"/>
          </a:solidFill>
          <a:ln w="12700">
            <a:solidFill>
              <a:srgbClr val="006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100" b="1">
                <a:solidFill>
                  <a:srgbClr val="006972"/>
                </a:solidFill>
                <a:latin typeface="Inter"/>
              </a:rPr>
              <a:t>38 µs Latensi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59736" y="5897880"/>
            <a:ext cx="1536192" cy="329184"/>
          </a:xfrm>
          <a:prstGeom prst="roundRect">
            <a:avLst>
              <a:gd name="adj" fmla="val 18000"/>
            </a:avLst>
          </a:prstGeom>
          <a:solidFill>
            <a:srgbClr val="E8F6EE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100" b="1">
                <a:solidFill>
                  <a:srgbClr val="16A34A"/>
                </a:solidFill>
                <a:latin typeface="Inter"/>
              </a:rPr>
              <a:t>1,8 KB Flash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0" y="5897880"/>
            <a:ext cx="1536192" cy="329184"/>
          </a:xfrm>
          <a:prstGeom prst="roundRect">
            <a:avLst>
              <a:gd name="adj" fmla="val 18000"/>
            </a:avLst>
          </a:prstGeom>
          <a:solidFill>
            <a:srgbClr val="EFF4FF"/>
          </a:solidFill>
          <a:ln w="12700">
            <a:solidFill>
              <a:srgbClr val="15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100" b="1">
                <a:solidFill>
                  <a:srgbClr val="15345B"/>
                </a:solidFill>
                <a:latin typeface="Inter"/>
              </a:rPr>
              <a:t>2,1 KB SRAM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1417320"/>
            <a:ext cx="3291840" cy="310896"/>
          </a:xfrm>
          <a:prstGeom prst="roundRect">
            <a:avLst>
              <a:gd name="adj" fmla="val 18000"/>
            </a:avLst>
          </a:prstGeom>
          <a:solidFill>
            <a:srgbClr val="E0F8FB"/>
          </a:solidFill>
          <a:ln w="12700">
            <a:solidFill>
              <a:srgbClr val="006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l"/>
            <a:r>
              <a:rPr sz="1050" b="1">
                <a:solidFill>
                  <a:srgbClr val="006972"/>
                </a:solidFill>
                <a:latin typeface="Inter"/>
              </a:rPr>
              <a:t>●  TRUE-RMS 32 SAMPEL / SIKLUS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75520" y="1417320"/>
            <a:ext cx="1508760" cy="310896"/>
          </a:xfrm>
          <a:prstGeom prst="roundRect">
            <a:avLst>
              <a:gd name="adj" fmla="val 18000"/>
            </a:avLst>
          </a:prstGeom>
          <a:solidFill>
            <a:srgbClr val="E8F6EE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050" b="1">
                <a:solidFill>
                  <a:srgbClr val="16A34A"/>
                </a:solidFill>
                <a:latin typeface="Inter"/>
              </a:rPr>
              <a:t>AKURASI ±1,5%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6520" y="4041648"/>
            <a:ext cx="3291840" cy="310896"/>
          </a:xfrm>
          <a:prstGeom prst="roundRect">
            <a:avLst>
              <a:gd name="adj" fmla="val 18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l"/>
            <a:r>
              <a:rPr sz="1050" b="1">
                <a:solidFill>
                  <a:srgbClr val="DC2626"/>
                </a:solidFill>
                <a:latin typeface="Inter"/>
              </a:rPr>
              <a:t>●  SPEKTRUM GOERTZEL 48 HZ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75520" y="4041648"/>
            <a:ext cx="1508760" cy="310896"/>
          </a:xfrm>
          <a:prstGeom prst="roundRect">
            <a:avLst>
              <a:gd name="adj" fmla="val 18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050" b="1">
                <a:solidFill>
                  <a:srgbClr val="DC2626"/>
                </a:solidFill>
                <a:latin typeface="Inter"/>
              </a:rPr>
              <a:t>PEAK 48 HZ!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274320"/>
            <a:ext cx="3017520" cy="310896"/>
          </a:xfrm>
          <a:prstGeom prst="roundRect">
            <a:avLst>
              <a:gd name="adj" fmla="val 18000"/>
            </a:avLst>
          </a:prstGeom>
          <a:solidFill>
            <a:srgbClr val="E8F6EE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l"/>
            <a:r>
              <a:rPr sz="1000" b="1">
                <a:solidFill>
                  <a:srgbClr val="16A34A"/>
                </a:solidFill>
                <a:latin typeface="Inter"/>
              </a:rPr>
              <a:t>●  EFISIENSI TELEMETRI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74320"/>
            <a:ext cx="1627632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000" b="1">
                <a:solidFill>
                  <a:srgbClr val="64748B"/>
                </a:solidFill>
                <a:latin typeface="Inter"/>
              </a:rPr>
              <a:t>SLIDE 07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800" b="1">
                <a:solidFill>
                  <a:srgbClr val="15345B"/>
                </a:solidFill>
                <a:latin typeface="Inter"/>
              </a:rPr>
              <a:t>Arsitektur Event-Driven Wake-Up (-90% Bandwidth)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481328"/>
            <a:ext cx="3291840" cy="329184"/>
          </a:xfrm>
          <a:prstGeom prst="roundRect">
            <a:avLst>
              <a:gd name="adj" fmla="val 18000"/>
            </a:avLst>
          </a:prstGeom>
          <a:solidFill>
            <a:srgbClr val="EFF4FF"/>
          </a:solidFill>
          <a:ln w="12700">
            <a:solidFill>
              <a:srgbClr val="15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l"/>
            <a:r>
              <a:rPr sz="1100" b="1">
                <a:solidFill>
                  <a:srgbClr val="15345B"/>
                </a:solidFill>
                <a:latin typeface="Inter"/>
              </a:rPr>
              <a:t>●  PERBANDINGAN TRANSMISI PAKET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29968"/>
            <a:ext cx="411480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Inter"/>
              </a:rPr>
              <a:t>KONVENSIONAL (POLLING 500 MS)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2011680"/>
            <a:ext cx="2057400" cy="329184"/>
          </a:xfrm>
          <a:prstGeom prst="roundRect">
            <a:avLst>
              <a:gd name="adj" fmla="val 18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100" b="1">
                <a:solidFill>
                  <a:srgbClr val="DC2626"/>
                </a:solidFill>
                <a:latin typeface="Inter"/>
              </a:rPr>
              <a:t>172.800 Paket / Hari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47872"/>
            <a:ext cx="411480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Inter"/>
              </a:rPr>
              <a:t>SENTINEL-X (EVENT-DRIVEN WAKE-UP)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3529584"/>
            <a:ext cx="2057400" cy="329184"/>
          </a:xfrm>
          <a:prstGeom prst="roundRect">
            <a:avLst>
              <a:gd name="adj" fmla="val 18000"/>
            </a:avLst>
          </a:prstGeom>
          <a:solidFill>
            <a:srgbClr val="E8F6EE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100" b="1">
                <a:solidFill>
                  <a:srgbClr val="16A34A"/>
                </a:solidFill>
                <a:latin typeface="Inter"/>
              </a:rPr>
              <a:t>17.280 Paket / Hari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4983480"/>
            <a:ext cx="315468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41248" y="4983480"/>
            <a:ext cx="64008" cy="105156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5102352"/>
            <a:ext cx="288036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Inter"/>
              </a:rPr>
              <a:t>MODE NORMAL (STEADY)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5413248"/>
            <a:ext cx="288036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600" b="1">
                <a:solidFill>
                  <a:srgbClr val="172B4D"/>
                </a:solidFill>
                <a:latin typeface="Inter"/>
              </a:rPr>
              <a:t>Heartbeat Tiap 5 Detik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4983480"/>
            <a:ext cx="324612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160520" y="4983480"/>
            <a:ext cx="64008" cy="105156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43400" y="5102352"/>
            <a:ext cx="297180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Inter"/>
              </a:rPr>
              <a:t>MODE ANOMALI / WAKE-UP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5413248"/>
            <a:ext cx="297180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600" b="1">
                <a:solidFill>
                  <a:srgbClr val="172B4D"/>
                </a:solidFill>
                <a:latin typeface="Inter"/>
              </a:rPr>
              <a:t>Burst Real-Time 500 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1600200"/>
            <a:ext cx="3063240" cy="347472"/>
          </a:xfrm>
          <a:prstGeom prst="roundRect">
            <a:avLst>
              <a:gd name="adj" fmla="val 18000"/>
            </a:avLst>
          </a:prstGeom>
          <a:solidFill>
            <a:srgbClr val="E8F6EE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100" b="1">
                <a:solidFill>
                  <a:srgbClr val="16A34A"/>
                </a:solidFill>
                <a:latin typeface="Inter"/>
              </a:rPr>
              <a:t>●  PENGHEMATAN KUOTA M2M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148840"/>
            <a:ext cx="3337560" cy="12344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200" b="1">
                <a:solidFill>
                  <a:srgbClr val="16A34A"/>
                </a:solidFill>
                <a:latin typeface="Inter"/>
              </a:rPr>
              <a:t>-90%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429000"/>
            <a:ext cx="333756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2000" b="1">
                <a:solidFill>
                  <a:srgbClr val="172B4D"/>
                </a:solidFill>
                <a:latin typeface="Inter"/>
              </a:rPr>
              <a:t>Trafik MQTT &amp; Seluler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4160520"/>
            <a:ext cx="3063240" cy="438912"/>
          </a:xfrm>
          <a:prstGeom prst="roundRect">
            <a:avLst>
              <a:gd name="adj" fmla="val 18000"/>
            </a:avLst>
          </a:prstGeom>
          <a:solidFill>
            <a:srgbClr val="EFF4FF"/>
          </a:solidFill>
          <a:ln w="12700">
            <a:solidFill>
              <a:srgbClr val="15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300" b="1">
                <a:solidFill>
                  <a:srgbClr val="15345B"/>
                </a:solidFill>
                <a:latin typeface="Inter"/>
              </a:rPr>
              <a:t>1,04 GB  ➔  104 MB / Bln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4754880"/>
            <a:ext cx="3063240" cy="438912"/>
          </a:xfrm>
          <a:prstGeom prst="roundRect">
            <a:avLst>
              <a:gd name="adj" fmla="val 18000"/>
            </a:avLst>
          </a:prstGeom>
          <a:solidFill>
            <a:srgbClr val="E0F8FB"/>
          </a:solidFill>
          <a:ln w="12700">
            <a:solidFill>
              <a:srgbClr val="006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150" b="1">
                <a:solidFill>
                  <a:srgbClr val="006972"/>
                </a:solidFill>
                <a:latin typeface="Inter"/>
              </a:rPr>
              <a:t>●  SCADA TETAP ONLINE (&lt;10s)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5349240"/>
            <a:ext cx="3063240" cy="438912"/>
          </a:xfrm>
          <a:prstGeom prst="roundRect">
            <a:avLst>
              <a:gd name="adj" fmla="val 18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150" b="1">
                <a:solidFill>
                  <a:srgbClr val="D97706"/>
                </a:solidFill>
                <a:latin typeface="Inter"/>
              </a:rPr>
              <a:t>●  ISR GPIO 14 + KOMPARATOR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274320"/>
            <a:ext cx="3017520" cy="310896"/>
          </a:xfrm>
          <a:prstGeom prst="roundRect">
            <a:avLst>
              <a:gd name="adj" fmla="val 18000"/>
            </a:avLst>
          </a:prstGeom>
          <a:solidFill>
            <a:srgbClr val="EFF4FF"/>
          </a:solidFill>
          <a:ln w="12700">
            <a:solidFill>
              <a:srgbClr val="15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l"/>
            <a:r>
              <a:rPr sz="1000" b="1">
                <a:solidFill>
                  <a:srgbClr val="15345B"/>
                </a:solidFill>
                <a:latin typeface="Inter"/>
              </a:rPr>
              <a:t>●  VERIFIKASI &amp; BENCHMARK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74320"/>
            <a:ext cx="1627632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000" b="1">
                <a:solidFill>
                  <a:srgbClr val="64748B"/>
                </a:solidFill>
                <a:latin typeface="Inter"/>
              </a:rPr>
              <a:t>SLIDE 08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800" b="1">
                <a:solidFill>
                  <a:srgbClr val="15345B"/>
                </a:solidFill>
                <a:latin typeface="Inter"/>
              </a:rPr>
              <a:t>4 Skenario Live Demo &amp; Keunggulan Kompetitif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4892040" cy="11155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008" cy="1115568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9808" y="1591056"/>
            <a:ext cx="621792" cy="512064"/>
          </a:xfrm>
          <a:prstGeom prst="roundRect">
            <a:avLst>
              <a:gd name="adj" fmla="val 18000"/>
            </a:avLst>
          </a:prstGeom>
          <a:solidFill>
            <a:srgbClr val="E8F6EE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600" b="1">
                <a:solidFill>
                  <a:srgbClr val="16A34A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463039"/>
            <a:ext cx="3749039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900" b="1">
                <a:solidFill>
                  <a:srgbClr val="172B4D"/>
                </a:solidFill>
                <a:latin typeface="Inter"/>
              </a:rPr>
              <a:t>Kondisi Normal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8760" y="1883664"/>
            <a:ext cx="2926080" cy="365760"/>
          </a:xfrm>
          <a:prstGeom prst="roundRect">
            <a:avLst>
              <a:gd name="adj" fmla="val 18000"/>
            </a:avLst>
          </a:prstGeom>
          <a:solidFill>
            <a:srgbClr val="E8F6EE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l"/>
            <a:r>
              <a:rPr sz="1150" b="1">
                <a:solidFill>
                  <a:srgbClr val="16A34A"/>
                </a:solidFill>
                <a:latin typeface="Inter"/>
              </a:rPr>
              <a:t>Health 92%  •  Heartbeat 5s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60320"/>
            <a:ext cx="4892040" cy="11155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8640" y="2560320"/>
            <a:ext cx="64008" cy="1115568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49808" y="2852927"/>
            <a:ext cx="621792" cy="512064"/>
          </a:xfrm>
          <a:prstGeom prst="roundRect">
            <a:avLst>
              <a:gd name="adj" fmla="val 18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600" b="1">
                <a:solidFill>
                  <a:srgbClr val="D97706"/>
                </a:solidFill>
                <a:latin typeface="Inte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724912"/>
            <a:ext cx="3749039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900" b="1">
                <a:solidFill>
                  <a:srgbClr val="172B4D"/>
                </a:solidFill>
                <a:latin typeface="Inter"/>
              </a:rPr>
              <a:t>Getaran 48 Hz &amp; Gas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08760" y="3145536"/>
            <a:ext cx="2926080" cy="365760"/>
          </a:xfrm>
          <a:prstGeom prst="roundRect">
            <a:avLst>
              <a:gd name="adj" fmla="val 18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l"/>
            <a:r>
              <a:rPr sz="1150" b="1">
                <a:solidFill>
                  <a:srgbClr val="D97706"/>
                </a:solidFill>
                <a:latin typeface="Inter"/>
              </a:rPr>
              <a:t>FFT + MQ-2  •  Burst 500ms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22191"/>
            <a:ext cx="4892040" cy="11155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" y="3822191"/>
            <a:ext cx="64008" cy="1115568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49808" y="4114800"/>
            <a:ext cx="621792" cy="512064"/>
          </a:xfrm>
          <a:prstGeom prst="roundRect">
            <a:avLst>
              <a:gd name="adj" fmla="val 18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600" b="1">
                <a:solidFill>
                  <a:srgbClr val="DC2626"/>
                </a:solidFill>
                <a:latin typeface="Inte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986783"/>
            <a:ext cx="3749039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900" b="1">
                <a:solidFill>
                  <a:srgbClr val="172B4D"/>
                </a:solidFill>
                <a:latin typeface="Inter"/>
              </a:rPr>
              <a:t>Sabotase Pintu Gardu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08760" y="4407407"/>
            <a:ext cx="2926080" cy="365760"/>
          </a:xfrm>
          <a:prstGeom prst="roundRect">
            <a:avLst>
              <a:gd name="adj" fmla="val 18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l"/>
            <a:r>
              <a:rPr sz="1150" b="1">
                <a:solidFill>
                  <a:srgbClr val="DC2626"/>
                </a:solidFill>
                <a:latin typeface="Inter"/>
              </a:rPr>
              <a:t>ISR GPIO 14  •  &lt; 45 µs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084064"/>
            <a:ext cx="4892040" cy="11155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48640" y="5084064"/>
            <a:ext cx="64008" cy="1115568"/>
          </a:xfrm>
          <a:prstGeom prst="roundRect">
            <a:avLst>
              <a:gd name="adj" fmla="val 20000"/>
            </a:avLst>
          </a:prstGeom>
          <a:solidFill>
            <a:srgbClr val="15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49808" y="5376672"/>
            <a:ext cx="621792" cy="512064"/>
          </a:xfrm>
          <a:prstGeom prst="roundRect">
            <a:avLst>
              <a:gd name="adj" fmla="val 18000"/>
            </a:avLst>
          </a:prstGeom>
          <a:solidFill>
            <a:srgbClr val="EFF4FF"/>
          </a:solidFill>
          <a:ln w="12700">
            <a:solidFill>
              <a:srgbClr val="15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600" b="1">
                <a:solidFill>
                  <a:srgbClr val="15345B"/>
                </a:solidFill>
                <a:latin typeface="Inter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248655"/>
            <a:ext cx="3749039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900" b="1">
                <a:solidFill>
                  <a:srgbClr val="172B4D"/>
                </a:solidFill>
                <a:latin typeface="Inter"/>
              </a:rPr>
              <a:t>Auto-Trip Proteksi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08760" y="5669279"/>
            <a:ext cx="2926080" cy="365760"/>
          </a:xfrm>
          <a:prstGeom prst="roundRect">
            <a:avLst>
              <a:gd name="adj" fmla="val 18000"/>
            </a:avLst>
          </a:prstGeom>
          <a:solidFill>
            <a:srgbClr val="EFF4FF"/>
          </a:solidFill>
          <a:ln w="12700">
            <a:solidFill>
              <a:srgbClr val="15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l"/>
            <a:r>
              <a:rPr sz="1150" b="1">
                <a:solidFill>
                  <a:srgbClr val="15345B"/>
                </a:solidFill>
                <a:latin typeface="Inter"/>
              </a:rPr>
              <a:t>Relay 12V  •  &lt; 27,2 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1463040"/>
            <a:ext cx="5349240" cy="347472"/>
          </a:xfrm>
          <a:prstGeom prst="roundRect">
            <a:avLst>
              <a:gd name="adj" fmla="val 18000"/>
            </a:avLst>
          </a:prstGeom>
          <a:solidFill>
            <a:srgbClr val="EFF4FF"/>
          </a:solidFill>
          <a:ln w="12700">
            <a:solidFill>
              <a:srgbClr val="15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100" b="1">
                <a:solidFill>
                  <a:srgbClr val="15345B"/>
                </a:solidFill>
                <a:latin typeface="Inter"/>
              </a:rPr>
              <a:t>●  HEAD-TO-HEAD: SENTINEL-X VS KOMPETITOR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2011680"/>
            <a:ext cx="5349240" cy="713232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72200" y="2194560"/>
            <a:ext cx="150876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50" b="1">
                <a:solidFill>
                  <a:srgbClr val="64748B"/>
                </a:solidFill>
                <a:latin typeface="Inter"/>
              </a:rPr>
              <a:t>LATENSI AI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99248" y="2139696"/>
            <a:ext cx="1828800" cy="457200"/>
          </a:xfrm>
          <a:prstGeom prst="roundRect">
            <a:avLst>
              <a:gd name="adj" fmla="val 18000"/>
            </a:avLst>
          </a:prstGeom>
          <a:solidFill>
            <a:srgbClr val="E8F6EE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150" b="1">
                <a:solidFill>
                  <a:srgbClr val="16A34A"/>
                </a:solidFill>
                <a:latin typeface="Inter"/>
              </a:rPr>
              <a:t>38 µs (Edge INT8)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19488" y="2139696"/>
            <a:ext cx="1645920" cy="457200"/>
          </a:xfrm>
          <a:prstGeom prst="roundRect">
            <a:avLst>
              <a:gd name="adj" fmla="val 18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100" b="1">
                <a:solidFill>
                  <a:srgbClr val="DC2626"/>
                </a:solidFill>
                <a:latin typeface="Inter"/>
              </a:rPr>
              <a:t>&gt; 500 ms (Cloud)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2852928"/>
            <a:ext cx="5349240" cy="713232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72200" y="3035808"/>
            <a:ext cx="150876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50" b="1">
                <a:solidFill>
                  <a:srgbClr val="64748B"/>
                </a:solidFill>
                <a:latin typeface="Inter"/>
              </a:rPr>
              <a:t>DAYA AKTIF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99248" y="2980944"/>
            <a:ext cx="1828800" cy="457200"/>
          </a:xfrm>
          <a:prstGeom prst="roundRect">
            <a:avLst>
              <a:gd name="adj" fmla="val 18000"/>
            </a:avLst>
          </a:prstGeom>
          <a:solidFill>
            <a:srgbClr val="E8F6EE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150" b="1">
                <a:solidFill>
                  <a:srgbClr val="16A34A"/>
                </a:solidFill>
                <a:latin typeface="Inter"/>
              </a:rPr>
              <a:t>1,18 Watt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19488" y="2980944"/>
            <a:ext cx="1645920" cy="457200"/>
          </a:xfrm>
          <a:prstGeom prst="roundRect">
            <a:avLst>
              <a:gd name="adj" fmla="val 18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100" b="1">
                <a:solidFill>
                  <a:srgbClr val="DC2626"/>
                </a:solidFill>
                <a:latin typeface="Inter"/>
              </a:rPr>
              <a:t>8 – 15 Watt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35040" y="3694176"/>
            <a:ext cx="5349240" cy="713232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72200" y="3877056"/>
            <a:ext cx="150876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50" b="1">
                <a:solidFill>
                  <a:srgbClr val="64748B"/>
                </a:solidFill>
                <a:latin typeface="Inter"/>
              </a:rPr>
              <a:t>INTEGRASI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99248" y="3822191"/>
            <a:ext cx="1828800" cy="457200"/>
          </a:xfrm>
          <a:prstGeom prst="roundRect">
            <a:avLst>
              <a:gd name="adj" fmla="val 18000"/>
            </a:avLst>
          </a:prstGeom>
          <a:solidFill>
            <a:srgbClr val="E8F6EE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150" b="1">
                <a:solidFill>
                  <a:srgbClr val="16A34A"/>
                </a:solidFill>
                <a:latin typeface="Inter"/>
              </a:rPr>
              <a:t>1 Node (4-in-1)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19488" y="3822191"/>
            <a:ext cx="1645920" cy="457200"/>
          </a:xfrm>
          <a:prstGeom prst="roundRect">
            <a:avLst>
              <a:gd name="adj" fmla="val 18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100" b="1">
                <a:solidFill>
                  <a:srgbClr val="DC2626"/>
                </a:solidFill>
                <a:latin typeface="Inter"/>
              </a:rPr>
              <a:t>3 – 4 Alat Terpisah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5040" y="4535424"/>
            <a:ext cx="5349240" cy="713232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72200" y="4718304"/>
            <a:ext cx="150876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50" b="1">
                <a:solidFill>
                  <a:srgbClr val="64748B"/>
                </a:solidFill>
                <a:latin typeface="Inter"/>
              </a:rPr>
              <a:t>SAAT OFFLINE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99248" y="4663440"/>
            <a:ext cx="1828800" cy="457200"/>
          </a:xfrm>
          <a:prstGeom prst="roundRect">
            <a:avLst>
              <a:gd name="adj" fmla="val 18000"/>
            </a:avLst>
          </a:prstGeom>
          <a:solidFill>
            <a:srgbClr val="E8F6EE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150" b="1">
                <a:solidFill>
                  <a:srgbClr val="16A34A"/>
                </a:solidFill>
                <a:latin typeface="Inter"/>
              </a:rPr>
              <a:t>100% Trip Otonom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19488" y="4663440"/>
            <a:ext cx="1645920" cy="457200"/>
          </a:xfrm>
          <a:prstGeom prst="roundRect">
            <a:avLst>
              <a:gd name="adj" fmla="val 18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100" b="1">
                <a:solidFill>
                  <a:srgbClr val="DC2626"/>
                </a:solidFill>
                <a:latin typeface="Inter"/>
              </a:rPr>
              <a:t>Proteksi Lumpuh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5040" y="5376672"/>
            <a:ext cx="5349240" cy="713232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72200" y="5559552"/>
            <a:ext cx="150876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50" b="1">
                <a:solidFill>
                  <a:srgbClr val="64748B"/>
                </a:solidFill>
                <a:latin typeface="Inter"/>
              </a:rPr>
              <a:t>HARGA / NODE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99248" y="5504688"/>
            <a:ext cx="1828800" cy="457200"/>
          </a:xfrm>
          <a:prstGeom prst="roundRect">
            <a:avLst>
              <a:gd name="adj" fmla="val 18000"/>
            </a:avLst>
          </a:prstGeom>
          <a:solidFill>
            <a:srgbClr val="E8F6EE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150" b="1">
                <a:solidFill>
                  <a:srgbClr val="16A34A"/>
                </a:solidFill>
                <a:latin typeface="Inter"/>
              </a:rPr>
              <a:t>Rp 3,85 – 5,2 Jt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19488" y="5504688"/>
            <a:ext cx="1645920" cy="457200"/>
          </a:xfrm>
          <a:prstGeom prst="roundRect">
            <a:avLst>
              <a:gd name="adj" fmla="val 18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100" b="1">
                <a:solidFill>
                  <a:srgbClr val="DC2626"/>
                </a:solidFill>
                <a:latin typeface="Inter"/>
              </a:rPr>
              <a:t>Rp 35 – 80 Jt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274320"/>
            <a:ext cx="3017520" cy="310896"/>
          </a:xfrm>
          <a:prstGeom prst="roundRect">
            <a:avLst>
              <a:gd name="adj" fmla="val 18000"/>
            </a:avLst>
          </a:prstGeom>
          <a:solidFill>
            <a:srgbClr val="E8F6EE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l"/>
            <a:r>
              <a:rPr sz="1000" b="1">
                <a:solidFill>
                  <a:srgbClr val="16A34A"/>
                </a:solidFill>
                <a:latin typeface="Inter"/>
              </a:rPr>
              <a:t>●  MODEL BISNIS &amp; PASAR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74320"/>
            <a:ext cx="1627632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000" b="1">
                <a:solidFill>
                  <a:srgbClr val="64748B"/>
                </a:solidFill>
                <a:latin typeface="Inter"/>
              </a:rPr>
              <a:t>SLIDE 09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800" b="1">
                <a:solidFill>
                  <a:srgbClr val="15345B"/>
                </a:solidFill>
                <a:latin typeface="Inter"/>
              </a:rPr>
              <a:t>Unit Economics (-85% CAPEX) &amp; Pasar Nasional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4709160" cy="329184"/>
          </a:xfrm>
          <a:prstGeom prst="roundRect">
            <a:avLst>
              <a:gd name="adj" fmla="val 18000"/>
            </a:avLst>
          </a:prstGeom>
          <a:solidFill>
            <a:srgbClr val="E8F6EE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l"/>
            <a:r>
              <a:rPr sz="1100" b="1">
                <a:solidFill>
                  <a:srgbClr val="16A34A"/>
                </a:solidFill>
                <a:latin typeface="Inter"/>
              </a:rPr>
              <a:t>●  KOMPARASI BIAYA PER GARDU (CAPEX)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01952"/>
            <a:ext cx="3108960" cy="32918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Inter"/>
              </a:rPr>
              <a:t>RTU + IED Impor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874519"/>
            <a:ext cx="182880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1600" b="1">
                <a:solidFill>
                  <a:srgbClr val="DC2626"/>
                </a:solidFill>
                <a:latin typeface="Inter"/>
              </a:rPr>
              <a:t>Rp 35 – 80 Jt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3108960" cy="32918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Inter"/>
              </a:rPr>
              <a:t>SENTINEL-X Industri (TKT 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944368"/>
            <a:ext cx="182880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1600" b="1">
                <a:solidFill>
                  <a:srgbClr val="16A34A"/>
                </a:solidFill>
                <a:latin typeface="Inter"/>
              </a:rPr>
              <a:t>Rp 3,85 – 5,2 Jt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41648"/>
            <a:ext cx="3108960" cy="32918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Inter"/>
              </a:rPr>
              <a:t>Prototipe Lab (TKT 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4014215"/>
            <a:ext cx="182880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1600" b="1">
                <a:solidFill>
                  <a:srgbClr val="006972"/>
                </a:solidFill>
                <a:latin typeface="Inter"/>
              </a:rPr>
              <a:t>Rp 1,15 Jt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5074920"/>
            <a:ext cx="2286000" cy="457200"/>
          </a:xfrm>
          <a:prstGeom prst="roundRect">
            <a:avLst>
              <a:gd name="adj" fmla="val 18000"/>
            </a:avLst>
          </a:prstGeom>
          <a:solidFill>
            <a:srgbClr val="E8F6EE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300" b="1">
                <a:solidFill>
                  <a:srgbClr val="16A34A"/>
                </a:solidFill>
                <a:latin typeface="Inter"/>
              </a:rPr>
              <a:t>●  HEMAT CAPEX 85%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5074920"/>
            <a:ext cx="2240280" cy="457200"/>
          </a:xfrm>
          <a:prstGeom prst="roundRect">
            <a:avLst>
              <a:gd name="adj" fmla="val 18000"/>
            </a:avLst>
          </a:prstGeom>
          <a:solidFill>
            <a:srgbClr val="EFF4FF"/>
          </a:solidFill>
          <a:ln w="12700">
            <a:solidFill>
              <a:srgbClr val="15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300" b="1">
                <a:solidFill>
                  <a:srgbClr val="15345B"/>
                </a:solidFill>
                <a:latin typeface="Inter"/>
              </a:rPr>
              <a:t>MARGIN &gt; 45%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5650992"/>
            <a:ext cx="4663440" cy="384048"/>
          </a:xfrm>
          <a:prstGeom prst="roundRect">
            <a:avLst>
              <a:gd name="adj" fmla="val 18000"/>
            </a:avLst>
          </a:prstGeom>
          <a:solidFill>
            <a:srgbClr val="E0F8FB"/>
          </a:solidFill>
          <a:ln w="12700">
            <a:solidFill>
              <a:srgbClr val="006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150" b="1">
                <a:solidFill>
                  <a:srgbClr val="006972"/>
                </a:solidFill>
                <a:latin typeface="Inter"/>
              </a:rPr>
              <a:t>Hardware B2B + Lisensi SaaS SCADA Tahunan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463040"/>
            <a:ext cx="4983480" cy="329184"/>
          </a:xfrm>
          <a:prstGeom prst="roundRect">
            <a:avLst>
              <a:gd name="adj" fmla="val 18000"/>
            </a:avLst>
          </a:prstGeom>
          <a:solidFill>
            <a:srgbClr val="EFF4FF"/>
          </a:solidFill>
          <a:ln w="12700">
            <a:solidFill>
              <a:srgbClr val="15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l"/>
            <a:r>
              <a:rPr sz="1100" b="1">
                <a:solidFill>
                  <a:srgbClr val="15345B"/>
                </a:solidFill>
                <a:latin typeface="Inter"/>
              </a:rPr>
              <a:t>●  SKALA PASAR NASIONAL (TAM • SAM • SOM)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606040"/>
            <a:ext cx="10058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200" b="1">
                <a:solidFill>
                  <a:srgbClr val="15345B"/>
                </a:solidFill>
                <a:latin typeface="Inter"/>
              </a:rPr>
              <a:t>TAM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017520"/>
            <a:ext cx="10058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200" b="1">
                <a:solidFill>
                  <a:srgbClr val="006972"/>
                </a:solidFill>
                <a:latin typeface="Inter"/>
              </a:rPr>
              <a:t>SAM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639312"/>
            <a:ext cx="100584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Inter"/>
              </a:rPr>
              <a:t>SOM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2148840"/>
            <a:ext cx="23317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098280" y="2148840"/>
            <a:ext cx="64008" cy="1143000"/>
          </a:xfrm>
          <a:prstGeom prst="roundRect">
            <a:avLst>
              <a:gd name="adj" fmla="val 20000"/>
            </a:avLst>
          </a:prstGeom>
          <a:solidFill>
            <a:srgbClr val="15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53728" y="2276856"/>
            <a:ext cx="21031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00" b="1">
                <a:solidFill>
                  <a:srgbClr val="15345B"/>
                </a:solidFill>
                <a:latin typeface="Inter"/>
              </a:rPr>
              <a:t>TAM  •  500.000 GARDU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2587752"/>
            <a:ext cx="210312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400" b="1">
                <a:solidFill>
                  <a:srgbClr val="172B4D"/>
                </a:solidFill>
                <a:latin typeface="Inter"/>
              </a:rPr>
              <a:t>Rp 2,25 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3520440"/>
            <a:ext cx="23317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098280" y="3520440"/>
            <a:ext cx="64008" cy="1143000"/>
          </a:xfrm>
          <a:prstGeom prst="roundRect">
            <a:avLst>
              <a:gd name="adj" fmla="val 20000"/>
            </a:avLst>
          </a:prstGeom>
          <a:solidFill>
            <a:srgbClr val="006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53728" y="3648456"/>
            <a:ext cx="21031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00" b="1">
                <a:solidFill>
                  <a:srgbClr val="006972"/>
                </a:solidFill>
                <a:latin typeface="Inter"/>
              </a:rPr>
              <a:t>SAM  •  75.000 PRIORITAS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3959352"/>
            <a:ext cx="210312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400" b="1">
                <a:solidFill>
                  <a:srgbClr val="172B4D"/>
                </a:solidFill>
                <a:latin typeface="Inter"/>
              </a:rPr>
              <a:t>Rp 337,5 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4892040"/>
            <a:ext cx="23317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098280" y="4892040"/>
            <a:ext cx="64008" cy="114300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53728" y="5020055"/>
            <a:ext cx="21031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Inter"/>
              </a:rPr>
              <a:t>SOM  •  2.000 UNIT PILOT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3728" y="5330952"/>
            <a:ext cx="210312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400" b="1">
                <a:solidFill>
                  <a:srgbClr val="172B4D"/>
                </a:solidFill>
                <a:latin typeface="Inter"/>
              </a:rPr>
              <a:t>Rp 9,0 M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274320"/>
            <a:ext cx="3017520" cy="310896"/>
          </a:xfrm>
          <a:prstGeom prst="roundRect">
            <a:avLst>
              <a:gd name="adj" fmla="val 18000"/>
            </a:avLst>
          </a:prstGeom>
          <a:solidFill>
            <a:srgbClr val="EFF4FF"/>
          </a:solidFill>
          <a:ln w="12700">
            <a:solidFill>
              <a:srgbClr val="15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l"/>
            <a:r>
              <a:rPr sz="1000" b="1">
                <a:solidFill>
                  <a:srgbClr val="15345B"/>
                </a:solidFill>
                <a:latin typeface="Inter"/>
              </a:rPr>
              <a:t>●  EKSEKUSI &amp; KOLABORASI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74320"/>
            <a:ext cx="1627632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000" b="1">
                <a:solidFill>
                  <a:srgbClr val="64748B"/>
                </a:solidFill>
                <a:latin typeface="Inter"/>
              </a:rPr>
              <a:t>SLIDE 10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800" b="1">
                <a:solidFill>
                  <a:srgbClr val="15345B"/>
                </a:solidFill>
                <a:latin typeface="Inter"/>
              </a:rPr>
              <a:t>Roadmap 12 Bulan Menuju TKT 6 &amp; Komersialisasi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520440"/>
            <a:ext cx="2542032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3520440"/>
            <a:ext cx="64008" cy="1965960"/>
          </a:xfrm>
          <a:prstGeom prst="roundRect">
            <a:avLst>
              <a:gd name="adj" fmla="val 20000"/>
            </a:avLst>
          </a:prstGeom>
          <a:solidFill>
            <a:srgbClr val="006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13232" y="3666744"/>
            <a:ext cx="1051560" cy="310896"/>
          </a:xfrm>
          <a:prstGeom prst="roundRect">
            <a:avLst>
              <a:gd name="adj" fmla="val 18000"/>
            </a:avLst>
          </a:prstGeom>
          <a:solidFill>
            <a:srgbClr val="E0F8FB"/>
          </a:solidFill>
          <a:ln w="12700">
            <a:solidFill>
              <a:srgbClr val="006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000" b="1">
                <a:solidFill>
                  <a:srgbClr val="006972"/>
                </a:solidFill>
                <a:latin typeface="Inter"/>
              </a:rPr>
              <a:t>BLN 1–2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3611880"/>
            <a:ext cx="114300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2000" b="1">
                <a:solidFill>
                  <a:srgbClr val="006972"/>
                </a:solidFill>
                <a:latin typeface="Inter"/>
              </a:rPr>
              <a:t>TKT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142232"/>
            <a:ext cx="2240280" cy="5943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Inter"/>
              </a:rPr>
              <a:t>Prototipe &amp; Demo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4892040"/>
            <a:ext cx="2212848" cy="384048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 w="12700"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050" b="1">
                <a:solidFill>
                  <a:srgbClr val="172B4D"/>
                </a:solidFill>
                <a:latin typeface="Inter"/>
              </a:rPr>
              <a:t>TINYML INT8 READY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2788920"/>
            <a:ext cx="2542032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401568" y="2788920"/>
            <a:ext cx="64008" cy="1965960"/>
          </a:xfrm>
          <a:prstGeom prst="roundRect">
            <a:avLst>
              <a:gd name="adj" fmla="val 20000"/>
            </a:avLst>
          </a:prstGeom>
          <a:solidFill>
            <a:srgbClr val="15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566160" y="2935224"/>
            <a:ext cx="1051560" cy="310896"/>
          </a:xfrm>
          <a:prstGeom prst="roundRect">
            <a:avLst>
              <a:gd name="adj" fmla="val 18000"/>
            </a:avLst>
          </a:prstGeom>
          <a:solidFill>
            <a:srgbClr val="EFF4FF"/>
          </a:solidFill>
          <a:ln w="12700">
            <a:solidFill>
              <a:srgbClr val="15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000" b="1">
                <a:solidFill>
                  <a:srgbClr val="15345B"/>
                </a:solidFill>
                <a:latin typeface="Inter"/>
              </a:rPr>
              <a:t>BLN 3–4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2880360"/>
            <a:ext cx="114300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2000" b="1">
                <a:solidFill>
                  <a:srgbClr val="15345B"/>
                </a:solidFill>
                <a:latin typeface="Inter"/>
              </a:rPr>
              <a:t>TKT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410712"/>
            <a:ext cx="2240280" cy="5943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Inter"/>
              </a:rPr>
              <a:t>PCB 4-Layer Industri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4160520"/>
            <a:ext cx="2212848" cy="384048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 w="12700"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050" b="1" dirty="0">
                <a:solidFill>
                  <a:srgbClr val="172B4D"/>
                </a:solidFill>
                <a:latin typeface="Inter"/>
              </a:rPr>
              <a:t>EMC &amp; SURGE 4 KV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2057400"/>
            <a:ext cx="2542032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54496" y="2057400"/>
            <a:ext cx="64008" cy="196596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19088" y="2203704"/>
            <a:ext cx="1051560" cy="310896"/>
          </a:xfrm>
          <a:prstGeom prst="roundRect">
            <a:avLst>
              <a:gd name="adj" fmla="val 18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000" b="1">
                <a:solidFill>
                  <a:srgbClr val="D97706"/>
                </a:solidFill>
                <a:latin typeface="Inter"/>
              </a:rPr>
              <a:t>BLN 5–10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2944" y="2148840"/>
            <a:ext cx="114300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2000" b="1">
                <a:solidFill>
                  <a:srgbClr val="D97706"/>
                </a:solidFill>
                <a:latin typeface="Inter"/>
              </a:rPr>
              <a:t>TKT 5–6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2679192"/>
            <a:ext cx="2240280" cy="5943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Inter"/>
              </a:rPr>
              <a:t>Pilot 10 Gardu PLN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19088" y="3429000"/>
            <a:ext cx="2212848" cy="384048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 w="12700"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050" b="1">
                <a:solidFill>
                  <a:srgbClr val="172B4D"/>
                </a:solidFill>
                <a:latin typeface="Inter"/>
              </a:rPr>
              <a:t>UJI SPLN &amp; IEC 104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07424" y="1325880"/>
            <a:ext cx="2542032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107424" y="1325880"/>
            <a:ext cx="64008" cy="196596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272016" y="1472184"/>
            <a:ext cx="1051560" cy="310896"/>
          </a:xfrm>
          <a:prstGeom prst="roundRect">
            <a:avLst>
              <a:gd name="adj" fmla="val 18000"/>
            </a:avLst>
          </a:prstGeom>
          <a:solidFill>
            <a:srgbClr val="E8F6EE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000" b="1">
                <a:solidFill>
                  <a:srgbClr val="16A34A"/>
                </a:solidFill>
                <a:latin typeface="Inter"/>
              </a:rPr>
              <a:t>BLN 11–12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05872" y="1417320"/>
            <a:ext cx="114300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2000" b="1">
                <a:solidFill>
                  <a:srgbClr val="16A34A"/>
                </a:solidFill>
                <a:latin typeface="Inter"/>
              </a:rPr>
              <a:t>TKT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2016" y="1947672"/>
            <a:ext cx="2240280" cy="5943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Inter"/>
              </a:rPr>
              <a:t>Paten, DTLST &amp; TKDN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72016" y="2697480"/>
            <a:ext cx="2212848" cy="384048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 w="12700"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050" b="1">
                <a:solidFill>
                  <a:srgbClr val="172B4D"/>
                </a:solidFill>
                <a:latin typeface="Inter"/>
              </a:rPr>
              <a:t>SIAP SKALA B2B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833872"/>
            <a:ext cx="3456432" cy="475488"/>
          </a:xfrm>
          <a:prstGeom prst="roundRect">
            <a:avLst>
              <a:gd name="adj" fmla="val 18000"/>
            </a:avLst>
          </a:prstGeom>
          <a:solidFill>
            <a:srgbClr val="E0F8FB"/>
          </a:solidFill>
          <a:ln w="12700">
            <a:solidFill>
              <a:srgbClr val="006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100" b="1">
                <a:solidFill>
                  <a:srgbClr val="006972"/>
                </a:solidFill>
                <a:latin typeface="Inter"/>
              </a:rPr>
              <a:t>●  PLN PUSLITBANG : Sandbox Uji Lapangan 10 Gardu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0832" y="5833872"/>
            <a:ext cx="3456432" cy="475488"/>
          </a:xfrm>
          <a:prstGeom prst="roundRect">
            <a:avLst>
              <a:gd name="adj" fmla="val 18000"/>
            </a:avLst>
          </a:prstGeom>
          <a:solidFill>
            <a:srgbClr val="E8F6EE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100" b="1">
                <a:solidFill>
                  <a:srgbClr val="16A34A"/>
                </a:solidFill>
                <a:latin typeface="Inter"/>
              </a:rPr>
              <a:t>●  PT INDISMART : Co-Design PCB 4-Layer &amp; TKDN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93024" y="5833872"/>
            <a:ext cx="3456432" cy="475488"/>
          </a:xfrm>
          <a:prstGeom prst="roundRect">
            <a:avLst>
              <a:gd name="adj" fmla="val 18000"/>
            </a:avLst>
          </a:prstGeom>
          <a:solidFill>
            <a:srgbClr val="EFF4FF"/>
          </a:solidFill>
          <a:ln w="12700">
            <a:solidFill>
              <a:srgbClr val="15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73152" rtlCol="0" anchor="ctr"/>
          <a:lstStyle/>
          <a:p>
            <a:pPr algn="ctr"/>
            <a:r>
              <a:rPr sz="1100" b="1">
                <a:solidFill>
                  <a:srgbClr val="15345B"/>
                </a:solidFill>
                <a:latin typeface="Inter"/>
              </a:rPr>
              <a:t>●  DEFEND ID : Integrasi Loop Kawat &amp; RTL PAU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1969</Words>
  <Application>Microsoft Office PowerPoint</Application>
  <PresentationFormat>Widescreen</PresentationFormat>
  <Paragraphs>265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Daniyal Faridudin Nayf</cp:lastModifiedBy>
  <cp:revision>2</cp:revision>
  <dcterms:created xsi:type="dcterms:W3CDTF">2013-01-27T09:14:16Z</dcterms:created>
  <dcterms:modified xsi:type="dcterms:W3CDTF">2026-10-18T09:37:13Z</dcterms:modified>
  <cp:category/>
</cp:coreProperties>
</file>